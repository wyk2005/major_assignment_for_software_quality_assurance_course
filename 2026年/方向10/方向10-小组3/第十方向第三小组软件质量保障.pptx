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9" r:id="rId2"/>
    <p:sldId id="256" r:id="rId3"/>
    <p:sldId id="257" r:id="rId4"/>
    <p:sldId id="259" r:id="rId5"/>
    <p:sldId id="263" r:id="rId6"/>
    <p:sldId id="258" r:id="rId7"/>
    <p:sldId id="282" r:id="rId8"/>
    <p:sldId id="260" r:id="rId9"/>
    <p:sldId id="262" r:id="rId10"/>
    <p:sldId id="283" r:id="rId11"/>
    <p:sldId id="284" r:id="rId12"/>
    <p:sldId id="288" r:id="rId13"/>
    <p:sldId id="289" r:id="rId14"/>
    <p:sldId id="261" r:id="rId15"/>
    <p:sldId id="285" r:id="rId16"/>
    <p:sldId id="286" r:id="rId17"/>
    <p:sldId id="287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F2F2F2"/>
    <a:srgbClr val="F1EFEE"/>
    <a:srgbClr val="F5F3F1"/>
    <a:srgbClr val="F8F5F3"/>
    <a:srgbClr val="F5F2F1"/>
    <a:srgbClr val="F4F1F0"/>
    <a:srgbClr val="F7F4F2"/>
    <a:srgbClr val="F4F2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5559" autoAdjust="0"/>
  </p:normalViewPr>
  <p:slideViewPr>
    <p:cSldViewPr snapToGrid="0">
      <p:cViewPr varScale="1">
        <p:scale>
          <a:sx n="78" d="100"/>
          <a:sy n="78" d="100"/>
        </p:scale>
        <p:origin x="50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7F4CF-FAD3-4753-A5D8-D35E0A8B4380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9927F-7422-466D-AA77-7766B4933C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927F-7422-466D-AA77-7766B4933CB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FCE8CB-E074-45FE-80CB-EEF74AF236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5CA10-290B-461A-8199-5D946D4C5A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2F5597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3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image" Target="../media/image4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notesSlide" Target="../notesSlides/notesSlide4.xml"/><Relationship Id="rId2" Type="http://schemas.openxmlformats.org/officeDocument/2006/relationships/tags" Target="../tags/tag15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image" Target="../media/image5.pn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2947737" y="13960"/>
            <a:ext cx="12031" cy="263491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0" y="2634916"/>
            <a:ext cx="295976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39851" y="3468264"/>
            <a:ext cx="6256421" cy="2406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962473" y="4247146"/>
            <a:ext cx="6256421" cy="2406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-1" y="4223083"/>
            <a:ext cx="4126833" cy="1587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7807080" y="3453063"/>
            <a:ext cx="0" cy="3429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7796463" y="3441032"/>
            <a:ext cx="4419601" cy="1203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45210" y="946150"/>
            <a:ext cx="15651480" cy="38385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7200" spc="15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基于</a:t>
            </a:r>
            <a:r>
              <a:rPr lang="en-US" altLang="zh-CN" sz="7200" spc="15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 LSTM </a:t>
            </a:r>
            <a:r>
              <a:rPr lang="zh-CN" altLang="en-US" sz="7200" spc="15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的时序</a:t>
            </a:r>
          </a:p>
          <a:p>
            <a:pPr algn="l"/>
            <a:r>
              <a:rPr lang="zh-CN" altLang="en-US" sz="7200" spc="15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感知模型对抗攻击</a:t>
            </a:r>
          </a:p>
          <a:p>
            <a:pPr algn="l"/>
            <a:r>
              <a:rPr lang="zh-CN" altLang="en-US" sz="7200" spc="15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与鲁棒性分析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807960" y="4271010"/>
            <a:ext cx="4384040" cy="261048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小组成员：谢尚烨</a:t>
            </a:r>
          </a:p>
          <a:p>
            <a:pPr algn="l"/>
            <a:r>
              <a:rPr lang="en-US" altLang="zh-CN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任炜奕</a:t>
            </a:r>
          </a:p>
          <a:p>
            <a:pPr algn="l"/>
            <a:r>
              <a:rPr lang="en-US" altLang="zh-CN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李帅帅</a:t>
            </a:r>
            <a:endParaRPr lang="en-US" altLang="zh-CN" sz="16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刘永睿</a:t>
            </a:r>
          </a:p>
          <a:p>
            <a:pPr algn="l"/>
            <a:r>
              <a:rPr lang="en-US" altLang="zh-CN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仇凯义</a:t>
            </a:r>
          </a:p>
        </p:txBody>
      </p:sp>
      <p:grpSp>
        <p:nvGrpSpPr>
          <p:cNvPr id="71" name="组合 70"/>
          <p:cNvGrpSpPr/>
          <p:nvPr/>
        </p:nvGrpSpPr>
        <p:grpSpPr>
          <a:xfrm rot="10800000">
            <a:off x="9550800" y="4375863"/>
            <a:ext cx="3196963" cy="3132367"/>
            <a:chOff x="-241322" y="-198407"/>
            <a:chExt cx="2400407" cy="2397341"/>
          </a:xfrm>
        </p:grpSpPr>
        <p:grpSp>
          <p:nvGrpSpPr>
            <p:cNvPr id="72" name="组合 71"/>
            <p:cNvGrpSpPr/>
            <p:nvPr/>
          </p:nvGrpSpPr>
          <p:grpSpPr>
            <a:xfrm>
              <a:off x="112549" y="124482"/>
              <a:ext cx="2046536" cy="2074452"/>
              <a:chOff x="-39851" y="-27918"/>
              <a:chExt cx="2046536" cy="2074452"/>
            </a:xfrm>
          </p:grpSpPr>
          <p:cxnSp>
            <p:nvCxnSpPr>
              <p:cNvPr id="80" name="直接连接符 79"/>
              <p:cNvCxnSpPr/>
              <p:nvPr/>
            </p:nvCxnSpPr>
            <p:spPr>
              <a:xfrm flipH="1">
                <a:off x="12033" y="24063"/>
                <a:ext cx="446583" cy="44658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flipH="1">
                <a:off x="9203" y="-13959"/>
                <a:ext cx="792235" cy="79223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flipH="1">
                <a:off x="60078" y="24063"/>
                <a:ext cx="1008141" cy="100814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H="1">
                <a:off x="-14861" y="-27918"/>
                <a:ext cx="1439863" cy="1439862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H="1">
                <a:off x="6373" y="10104"/>
                <a:ext cx="1685408" cy="168540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H="1">
                <a:off x="-39851" y="0"/>
                <a:ext cx="2046536" cy="204653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/>
            <p:cNvGrpSpPr/>
            <p:nvPr/>
          </p:nvGrpSpPr>
          <p:grpSpPr>
            <a:xfrm>
              <a:off x="-241322" y="-198407"/>
              <a:ext cx="2304737" cy="2336175"/>
              <a:chOff x="-39851" y="-27918"/>
              <a:chExt cx="2046536" cy="2074452"/>
            </a:xfrm>
          </p:grpSpPr>
          <p:cxnSp>
            <p:nvCxnSpPr>
              <p:cNvPr id="74" name="直接连接符 73"/>
              <p:cNvCxnSpPr/>
              <p:nvPr/>
            </p:nvCxnSpPr>
            <p:spPr>
              <a:xfrm flipH="1">
                <a:off x="12033" y="24063"/>
                <a:ext cx="446583" cy="44658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flipH="1">
                <a:off x="9203" y="-13959"/>
                <a:ext cx="792235" cy="79223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flipH="1">
                <a:off x="60078" y="24063"/>
                <a:ext cx="1008141" cy="100814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H="1">
                <a:off x="-14861" y="-27918"/>
                <a:ext cx="1439863" cy="1439862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H="1">
                <a:off x="6373" y="10104"/>
                <a:ext cx="1685408" cy="168540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flipH="1">
                <a:off x="-39851" y="0"/>
                <a:ext cx="2046536" cy="204653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组合 61"/>
          <p:cNvGrpSpPr/>
          <p:nvPr/>
        </p:nvGrpSpPr>
        <p:grpSpPr>
          <a:xfrm rot="5400000" flipV="1">
            <a:off x="-547085" y="-613131"/>
            <a:ext cx="3196963" cy="3132367"/>
            <a:chOff x="-241322" y="-198407"/>
            <a:chExt cx="2400407" cy="2397341"/>
          </a:xfrm>
        </p:grpSpPr>
        <p:grpSp>
          <p:nvGrpSpPr>
            <p:cNvPr id="86" name="组合 85"/>
            <p:cNvGrpSpPr/>
            <p:nvPr/>
          </p:nvGrpSpPr>
          <p:grpSpPr>
            <a:xfrm>
              <a:off x="112549" y="124482"/>
              <a:ext cx="2046536" cy="2074452"/>
              <a:chOff x="-39851" y="-27918"/>
              <a:chExt cx="2046536" cy="2074452"/>
            </a:xfrm>
          </p:grpSpPr>
          <p:cxnSp>
            <p:nvCxnSpPr>
              <p:cNvPr id="94" name="直接连接符 93"/>
              <p:cNvCxnSpPr/>
              <p:nvPr/>
            </p:nvCxnSpPr>
            <p:spPr>
              <a:xfrm flipH="1">
                <a:off x="12033" y="24063"/>
                <a:ext cx="446583" cy="44658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flipH="1">
                <a:off x="9203" y="-13959"/>
                <a:ext cx="792235" cy="79223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H="1">
                <a:off x="60078" y="24063"/>
                <a:ext cx="1008141" cy="100814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flipH="1">
                <a:off x="-14861" y="-27918"/>
                <a:ext cx="1439863" cy="1439862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 flipH="1">
                <a:off x="6373" y="10104"/>
                <a:ext cx="1685408" cy="168540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 flipH="1">
                <a:off x="-39851" y="0"/>
                <a:ext cx="2046536" cy="204653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组合 86"/>
            <p:cNvGrpSpPr/>
            <p:nvPr/>
          </p:nvGrpSpPr>
          <p:grpSpPr>
            <a:xfrm>
              <a:off x="-241322" y="-198407"/>
              <a:ext cx="2304737" cy="2336175"/>
              <a:chOff x="-39851" y="-27918"/>
              <a:chExt cx="2046536" cy="2074452"/>
            </a:xfrm>
          </p:grpSpPr>
          <p:cxnSp>
            <p:nvCxnSpPr>
              <p:cNvPr id="88" name="直接连接符 87"/>
              <p:cNvCxnSpPr/>
              <p:nvPr/>
            </p:nvCxnSpPr>
            <p:spPr>
              <a:xfrm flipH="1">
                <a:off x="12033" y="24063"/>
                <a:ext cx="446583" cy="44658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H="1">
                <a:off x="9203" y="-13959"/>
                <a:ext cx="792235" cy="79223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 flipH="1">
                <a:off x="60078" y="24063"/>
                <a:ext cx="1008141" cy="100814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flipH="1">
                <a:off x="-14861" y="-27918"/>
                <a:ext cx="1439863" cy="1439862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flipH="1">
                <a:off x="6373" y="10104"/>
                <a:ext cx="1685408" cy="168540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flipH="1">
                <a:off x="-39851" y="0"/>
                <a:ext cx="2046536" cy="204653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0" y="0"/>
            <a:ext cx="4594690" cy="6858000"/>
            <a:chOff x="0" y="0"/>
            <a:chExt cx="4594690" cy="6858000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0"/>
              <a:ext cx="4594690" cy="6858000"/>
              <a:chOff x="0" y="0"/>
              <a:chExt cx="4594690" cy="6858000"/>
            </a:xfrm>
          </p:grpSpPr>
          <p:sp>
            <p:nvSpPr>
              <p:cNvPr id="24" name="等腰三角形 23"/>
              <p:cNvSpPr/>
              <p:nvPr/>
            </p:nvSpPr>
            <p:spPr>
              <a:xfrm rot="5400000">
                <a:off x="3835529" y="2888903"/>
                <a:ext cx="815395" cy="702927"/>
              </a:xfrm>
              <a:prstGeom prst="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0"/>
                <a:ext cx="4027470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6" name="椭圆 5"/>
            <p:cNvSpPr/>
            <p:nvPr/>
          </p:nvSpPr>
          <p:spPr>
            <a:xfrm>
              <a:off x="1058238" y="1181528"/>
              <a:ext cx="2126751" cy="2126751"/>
            </a:xfrm>
            <a:prstGeom prst="ellipse">
              <a:avLst/>
            </a:prstGeom>
            <a:noFill/>
            <a:ln w="1111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460646" y="4065580"/>
              <a:ext cx="11480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spc="1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大纲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387611" y="4718952"/>
              <a:ext cx="12939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Adobe Caslon Pro Bold" panose="0205070206050A020403" pitchFamily="18" charset="0"/>
                  <a:ea typeface="Kozuka Gothic Pro B" panose="020B0800000000000000" pitchFamily="34" charset="-128"/>
                </a:rPr>
                <a:t>contents</a:t>
              </a:r>
              <a:endParaRPr lang="zh-CN" altLang="en-US" sz="2400" dirty="0">
                <a:solidFill>
                  <a:schemeClr val="bg1"/>
                </a:solidFill>
                <a:latin typeface="Adobe Caslon Pro Bold" panose="0205070206050A020403" pitchFamily="18" charset="0"/>
                <a:ea typeface="Kozuka Gothic Pro B" panose="020B0800000000000000" pitchFamily="34" charset="-128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 flipH="1">
              <a:off x="722518" y="4925660"/>
              <a:ext cx="637650" cy="48248"/>
              <a:chOff x="2782883" y="4944533"/>
              <a:chExt cx="637650" cy="48248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2806654" y="4968657"/>
                <a:ext cx="61387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椭圆 18"/>
              <p:cNvSpPr/>
              <p:nvPr/>
            </p:nvSpPr>
            <p:spPr>
              <a:xfrm flipH="1">
                <a:off x="2782883" y="4944533"/>
                <a:ext cx="53139" cy="4824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2716862" y="4925660"/>
              <a:ext cx="637650" cy="48248"/>
              <a:chOff x="2782883" y="4944533"/>
              <a:chExt cx="637650" cy="48248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2806654" y="4968657"/>
                <a:ext cx="61387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 flipH="1">
                <a:off x="2782883" y="4944533"/>
                <a:ext cx="53139" cy="4824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272" y="1688386"/>
            <a:ext cx="1144283" cy="1144283"/>
          </a:xfrm>
          <a:prstGeom prst="rect">
            <a:avLst/>
          </a:prstGeom>
        </p:spPr>
      </p:pic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6136460" y="1197968"/>
            <a:ext cx="2813050" cy="613458"/>
            <a:chOff x="7343421" y="1218073"/>
            <a:chExt cx="2813050" cy="613458"/>
          </a:xfrm>
        </p:grpSpPr>
        <p:sp>
          <p:nvSpPr>
            <p:cNvPr id="29" name="椭圆 28"/>
            <p:cNvSpPr/>
            <p:nvPr>
              <p:custDataLst>
                <p:tags r:id="rId11"/>
              </p:custDataLst>
            </p:nvPr>
          </p:nvSpPr>
          <p:spPr>
            <a:xfrm>
              <a:off x="7343421" y="1218073"/>
              <a:ext cx="613458" cy="613458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01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>
              <p:custDataLst>
                <p:tags r:id="rId12"/>
              </p:custDataLst>
            </p:nvPr>
          </p:nvSpPr>
          <p:spPr>
            <a:xfrm>
              <a:off x="8635011" y="1247988"/>
              <a:ext cx="152146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研究背景</a:t>
              </a:r>
            </a:p>
          </p:txBody>
        </p:sp>
      </p:grp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6105171" y="2313179"/>
            <a:ext cx="4826973" cy="613458"/>
            <a:chOff x="7343421" y="2320799"/>
            <a:chExt cx="4826973" cy="613458"/>
          </a:xfrm>
        </p:grpSpPr>
        <p:sp>
          <p:nvSpPr>
            <p:cNvPr id="26" name="文本框 25"/>
            <p:cNvSpPr txBox="1"/>
            <p:nvPr>
              <p:custDataLst>
                <p:tags r:id="rId9"/>
              </p:custDataLst>
            </p:nvPr>
          </p:nvSpPr>
          <p:spPr>
            <a:xfrm>
              <a:off x="8634714" y="2396696"/>
              <a:ext cx="353568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领域调研核心论文与工具</a:t>
              </a:r>
            </a:p>
          </p:txBody>
        </p:sp>
        <p:sp>
          <p:nvSpPr>
            <p:cNvPr id="30" name="椭圆 29"/>
            <p:cNvSpPr/>
            <p:nvPr>
              <p:custDataLst>
                <p:tags r:id="rId10"/>
              </p:custDataLst>
            </p:nvPr>
          </p:nvSpPr>
          <p:spPr>
            <a:xfrm>
              <a:off x="7343421" y="2320799"/>
              <a:ext cx="613458" cy="613458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02</a:t>
              </a:r>
              <a:endParaRPr lang="zh-CN" altLang="en-US" dirty="0"/>
            </a:p>
          </p:txBody>
        </p:sp>
      </p:grp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6105171" y="3520398"/>
            <a:ext cx="4827905" cy="613458"/>
            <a:chOff x="7343421" y="3528018"/>
            <a:chExt cx="4827905" cy="613458"/>
          </a:xfrm>
        </p:grpSpPr>
        <p:sp>
          <p:nvSpPr>
            <p:cNvPr id="27" name="文本框 26"/>
            <p:cNvSpPr txBox="1"/>
            <p:nvPr>
              <p:custDataLst>
                <p:tags r:id="rId7"/>
              </p:custDataLst>
            </p:nvPr>
          </p:nvSpPr>
          <p:spPr>
            <a:xfrm>
              <a:off x="8635011" y="3604218"/>
              <a:ext cx="35363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选择的开源项目及理由</a:t>
              </a:r>
            </a:p>
          </p:txBody>
        </p:sp>
        <p:sp>
          <p:nvSpPr>
            <p:cNvPr id="31" name="椭圆 30"/>
            <p:cNvSpPr/>
            <p:nvPr>
              <p:custDataLst>
                <p:tags r:id="rId8"/>
              </p:custDataLst>
            </p:nvPr>
          </p:nvSpPr>
          <p:spPr>
            <a:xfrm>
              <a:off x="7343421" y="3528018"/>
              <a:ext cx="613458" cy="613458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03</a:t>
              </a:r>
              <a:endParaRPr lang="zh-CN" altLang="en-US" dirty="0"/>
            </a:p>
          </p:txBody>
        </p:sp>
      </p:grp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6105171" y="4727617"/>
            <a:ext cx="2652146" cy="613458"/>
            <a:chOff x="7343421" y="4735237"/>
            <a:chExt cx="2652146" cy="613458"/>
          </a:xfrm>
        </p:grpSpPr>
        <p:sp>
          <p:nvSpPr>
            <p:cNvPr id="28" name="文本框 27"/>
            <p:cNvSpPr txBox="1"/>
            <p:nvPr>
              <p:custDataLst>
                <p:tags r:id="rId5"/>
              </p:custDataLst>
            </p:nvPr>
          </p:nvSpPr>
          <p:spPr>
            <a:xfrm>
              <a:off x="8593487" y="4811134"/>
              <a:ext cx="140208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改进思路</a:t>
              </a:r>
            </a:p>
          </p:txBody>
        </p:sp>
        <p:sp>
          <p:nvSpPr>
            <p:cNvPr id="32" name="椭圆 31"/>
            <p:cNvSpPr/>
            <p:nvPr>
              <p:custDataLst>
                <p:tags r:id="rId6"/>
              </p:custDataLst>
            </p:nvPr>
          </p:nvSpPr>
          <p:spPr>
            <a:xfrm>
              <a:off x="7343421" y="4735237"/>
              <a:ext cx="613458" cy="613458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04</a:t>
              </a:r>
              <a:endParaRPr lang="zh-CN" altLang="en-US" dirty="0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67646" y="878374"/>
            <a:ext cx="6589920" cy="4708981"/>
            <a:chOff x="3967646" y="878374"/>
            <a:chExt cx="6589920" cy="4708981"/>
          </a:xfrm>
        </p:grpSpPr>
        <p:sp>
          <p:nvSpPr>
            <p:cNvPr id="4" name="文本框 3"/>
            <p:cNvSpPr txBox="1"/>
            <p:nvPr/>
          </p:nvSpPr>
          <p:spPr>
            <a:xfrm>
              <a:off x="3967646" y="878374"/>
              <a:ext cx="2646878" cy="4708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0" dirty="0">
                  <a:solidFill>
                    <a:srgbClr val="2F5597"/>
                  </a:solidFill>
                  <a:latin typeface="Kozuka Mincho Pro H" panose="02020A00000000000000" pitchFamily="18" charset="-128"/>
                  <a:ea typeface="Kozuka Mincho Pro H" panose="02020A00000000000000" pitchFamily="18" charset="-128"/>
                </a:rPr>
                <a:t>1</a:t>
              </a:r>
              <a:endParaRPr lang="zh-CN" altLang="en-US" sz="30000" dirty="0">
                <a:solidFill>
                  <a:srgbClr val="2F5597"/>
                </a:solidFill>
                <a:latin typeface="Kozuka Mincho Pro H" panose="02020A00000000000000" pitchFamily="18" charset="-128"/>
                <a:ea typeface="Kozuka Mincho Pro H" panose="02020A00000000000000" pitchFamily="18" charset="-128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5148263" y="2139056"/>
              <a:ext cx="5409303" cy="2200150"/>
              <a:chOff x="4305782" y="2128782"/>
              <a:chExt cx="5409303" cy="220015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4448604" y="2232954"/>
                <a:ext cx="5266481" cy="1979271"/>
              </a:xfrm>
              <a:prstGeom prst="rect">
                <a:avLst/>
              </a:prstGeom>
              <a:solidFill>
                <a:srgbClr val="F5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0" spc="6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305782" y="2128782"/>
                <a:ext cx="5177809" cy="2200150"/>
              </a:xfrm>
              <a:prstGeom prst="rect">
                <a:avLst/>
              </a:prstGeom>
              <a:noFill/>
              <a:ln>
                <a:solidFill>
                  <a:srgbClr val="F4F2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5525936" y="2648119"/>
              <a:ext cx="4529455" cy="1168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  <a:sym typeface="+mn-ea"/>
                </a:rPr>
                <a:t>研究背景</a:t>
              </a:r>
              <a:endParaRPr lang="zh-CN" altLang="en-US" sz="7000" spc="20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39067" y="457843"/>
            <a:ext cx="7116682" cy="166589"/>
            <a:chOff x="2339067" y="457843"/>
            <a:chExt cx="7116682" cy="166589"/>
          </a:xfrm>
        </p:grpSpPr>
        <p:grpSp>
          <p:nvGrpSpPr>
            <p:cNvPr id="10" name="组合 9"/>
            <p:cNvGrpSpPr/>
            <p:nvPr/>
          </p:nvGrpSpPr>
          <p:grpSpPr>
            <a:xfrm>
              <a:off x="2339067" y="457843"/>
              <a:ext cx="1828586" cy="136906"/>
              <a:chOff x="2989063" y="523944"/>
              <a:chExt cx="1828586" cy="136906"/>
            </a:xfrm>
          </p:grpSpPr>
          <p:sp>
            <p:nvSpPr>
              <p:cNvPr id="5" name="椭圆 4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7627163" y="487526"/>
              <a:ext cx="1828586" cy="136906"/>
              <a:chOff x="2989063" y="523944"/>
              <a:chExt cx="1828586" cy="136906"/>
            </a:xfrm>
          </p:grpSpPr>
          <p:sp>
            <p:nvSpPr>
              <p:cNvPr id="12" name="椭圆 11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5035633" y="325146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研究背景</a:t>
            </a:r>
          </a:p>
        </p:txBody>
      </p:sp>
      <p:sp>
        <p:nvSpPr>
          <p:cNvPr id="20" name="矩形 19"/>
          <p:cNvSpPr/>
          <p:nvPr/>
        </p:nvSpPr>
        <p:spPr>
          <a:xfrm>
            <a:off x="0" y="5585552"/>
            <a:ext cx="12192000" cy="127244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60832" y="5679232"/>
            <a:ext cx="1085088" cy="10850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1575697" y="2032003"/>
            <a:ext cx="1934626" cy="361945"/>
            <a:chOff x="796763" y="1397003"/>
            <a:chExt cx="1934626" cy="361945"/>
          </a:xfrm>
        </p:grpSpPr>
        <p:sp>
          <p:nvSpPr>
            <p:cNvPr id="22" name="圆角矩形 21"/>
            <p:cNvSpPr/>
            <p:nvPr>
              <p:custDataLst>
                <p:tags r:id="rId13"/>
              </p:custDataLst>
            </p:nvPr>
          </p:nvSpPr>
          <p:spPr>
            <a:xfrm>
              <a:off x="1939890" y="1631953"/>
              <a:ext cx="791499" cy="69554"/>
            </a:xfrm>
            <a:prstGeom prst="roundRect">
              <a:avLst/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圆角矩形 20"/>
            <p:cNvSpPr/>
            <p:nvPr>
              <p:custDataLst>
                <p:tags r:id="rId14"/>
              </p:custDataLst>
            </p:nvPr>
          </p:nvSpPr>
          <p:spPr>
            <a:xfrm>
              <a:off x="796763" y="1495724"/>
              <a:ext cx="791499" cy="69554"/>
            </a:xfrm>
            <a:prstGeom prst="roundRect">
              <a:avLst/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>
              <p:custDataLst>
                <p:tags r:id="rId15"/>
              </p:custDataLst>
            </p:nvPr>
          </p:nvSpPr>
          <p:spPr>
            <a:xfrm>
              <a:off x="1103376" y="1397003"/>
              <a:ext cx="1296000" cy="361945"/>
            </a:xfrm>
            <a:prstGeom prst="roundRect">
              <a:avLst/>
            </a:prstGeom>
            <a:solidFill>
              <a:srgbClr val="2F5597"/>
            </a:solidFill>
            <a:ln w="635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应用场景广泛</a:t>
              </a:r>
            </a:p>
          </p:txBody>
        </p:sp>
      </p:grpSp>
      <p:grpSp>
        <p:nvGrpSpPr>
          <p:cNvPr id="24" name="组合 23"/>
          <p:cNvGrpSpPr/>
          <p:nvPr>
            <p:custDataLst>
              <p:tags r:id="rId2"/>
            </p:custDataLst>
          </p:nvPr>
        </p:nvGrpSpPr>
        <p:grpSpPr>
          <a:xfrm>
            <a:off x="1534076" y="3188305"/>
            <a:ext cx="1934626" cy="361945"/>
            <a:chOff x="796763" y="1397003"/>
            <a:chExt cx="1934626" cy="361945"/>
          </a:xfrm>
        </p:grpSpPr>
        <p:sp>
          <p:nvSpPr>
            <p:cNvPr id="25" name="圆角矩形 24"/>
            <p:cNvSpPr/>
            <p:nvPr>
              <p:custDataLst>
                <p:tags r:id="rId10"/>
              </p:custDataLst>
            </p:nvPr>
          </p:nvSpPr>
          <p:spPr>
            <a:xfrm>
              <a:off x="1939890" y="1631953"/>
              <a:ext cx="791499" cy="69554"/>
            </a:xfrm>
            <a:prstGeom prst="roundRect">
              <a:avLst/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圆角矩形 25"/>
            <p:cNvSpPr/>
            <p:nvPr>
              <p:custDataLst>
                <p:tags r:id="rId11"/>
              </p:custDataLst>
            </p:nvPr>
          </p:nvSpPr>
          <p:spPr>
            <a:xfrm>
              <a:off x="796763" y="1495724"/>
              <a:ext cx="791499" cy="69554"/>
            </a:xfrm>
            <a:prstGeom prst="roundRect">
              <a:avLst/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圆角矩形 26"/>
            <p:cNvSpPr/>
            <p:nvPr>
              <p:custDataLst>
                <p:tags r:id="rId12"/>
              </p:custDataLst>
            </p:nvPr>
          </p:nvSpPr>
          <p:spPr>
            <a:xfrm>
              <a:off x="1103376" y="1397003"/>
              <a:ext cx="1296000" cy="361945"/>
            </a:xfrm>
            <a:prstGeom prst="roundRect">
              <a:avLst/>
            </a:prstGeom>
            <a:solidFill>
              <a:srgbClr val="2F5597"/>
            </a:solidFill>
            <a:ln w="635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安全威胁严峻</a:t>
              </a:r>
            </a:p>
          </p:txBody>
        </p:sp>
      </p:grpSp>
      <p:grpSp>
        <p:nvGrpSpPr>
          <p:cNvPr id="28" name="组合 27"/>
          <p:cNvGrpSpPr/>
          <p:nvPr>
            <p:custDataLst>
              <p:tags r:id="rId3"/>
            </p:custDataLst>
          </p:nvPr>
        </p:nvGrpSpPr>
        <p:grpSpPr>
          <a:xfrm>
            <a:off x="1575697" y="4312566"/>
            <a:ext cx="1934626" cy="361945"/>
            <a:chOff x="796763" y="1397003"/>
            <a:chExt cx="1934626" cy="361945"/>
          </a:xfrm>
        </p:grpSpPr>
        <p:sp>
          <p:nvSpPr>
            <p:cNvPr id="29" name="圆角矩形 28"/>
            <p:cNvSpPr/>
            <p:nvPr>
              <p:custDataLst>
                <p:tags r:id="rId7"/>
              </p:custDataLst>
            </p:nvPr>
          </p:nvSpPr>
          <p:spPr>
            <a:xfrm>
              <a:off x="1939890" y="1631953"/>
              <a:ext cx="791499" cy="69554"/>
            </a:xfrm>
            <a:prstGeom prst="roundRect">
              <a:avLst/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圆角矩形 29"/>
            <p:cNvSpPr/>
            <p:nvPr>
              <p:custDataLst>
                <p:tags r:id="rId8"/>
              </p:custDataLst>
            </p:nvPr>
          </p:nvSpPr>
          <p:spPr>
            <a:xfrm>
              <a:off x="796763" y="1495724"/>
              <a:ext cx="791499" cy="69554"/>
            </a:xfrm>
            <a:prstGeom prst="roundRect">
              <a:avLst/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圆角矩形 30"/>
            <p:cNvSpPr/>
            <p:nvPr>
              <p:custDataLst>
                <p:tags r:id="rId9"/>
              </p:custDataLst>
            </p:nvPr>
          </p:nvSpPr>
          <p:spPr>
            <a:xfrm>
              <a:off x="1103376" y="1397003"/>
              <a:ext cx="1296000" cy="361945"/>
            </a:xfrm>
            <a:prstGeom prst="roundRect">
              <a:avLst/>
            </a:prstGeom>
            <a:solidFill>
              <a:srgbClr val="2F5597"/>
            </a:solidFill>
            <a:ln w="635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研究价值</a:t>
              </a:r>
            </a:p>
          </p:txBody>
        </p:sp>
      </p:grpSp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4440152" y="1979599"/>
            <a:ext cx="767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金融预测，医疗检测，行为识别，语音识别，工业传感器等领域应用广泛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4440152" y="2908338"/>
            <a:ext cx="5212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对抗样本攻击可导致模型误判</a:t>
            </a:r>
          </a:p>
          <a:p>
            <a:pPr algn="l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关键领域存在安全隐患（心脏病检测、自动驾驶）</a:t>
            </a:r>
          </a:p>
          <a:p>
            <a:pPr algn="l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时序数据的时间维度是新的攻击面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6" name="文本框 35"/>
          <p:cNvSpPr txBox="1"/>
          <p:nvPr>
            <p:custDataLst>
              <p:tags r:id="rId6"/>
            </p:custDataLst>
          </p:nvPr>
        </p:nvSpPr>
        <p:spPr>
          <a:xfrm>
            <a:off x="4440152" y="4230488"/>
            <a:ext cx="2926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揭示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LSTM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模型的脆弱性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l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评估现有防御方法的有效性</a:t>
            </a:r>
          </a:p>
          <a:p>
            <a:pPr algn="l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为实际应用提供安全保障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776569" y="5932372"/>
            <a:ext cx="562258" cy="599765"/>
            <a:chOff x="776569" y="5932372"/>
            <a:chExt cx="562258" cy="599765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569" y="5932372"/>
              <a:ext cx="431070" cy="43107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452" y="6269762"/>
              <a:ext cx="262375" cy="26237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75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2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125165" y="868100"/>
            <a:ext cx="7853680" cy="4708981"/>
            <a:chOff x="3125165" y="868100"/>
            <a:chExt cx="7853680" cy="4708981"/>
          </a:xfrm>
        </p:grpSpPr>
        <p:sp>
          <p:nvSpPr>
            <p:cNvPr id="4" name="文本框 3"/>
            <p:cNvSpPr txBox="1"/>
            <p:nvPr/>
          </p:nvSpPr>
          <p:spPr>
            <a:xfrm>
              <a:off x="3125165" y="868100"/>
              <a:ext cx="2646878" cy="4708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0" dirty="0">
                  <a:solidFill>
                    <a:srgbClr val="2F5597"/>
                  </a:solidFill>
                  <a:latin typeface="Kozuka Mincho Pro H" panose="02020A00000000000000" pitchFamily="18" charset="-128"/>
                  <a:ea typeface="Kozuka Mincho Pro H" panose="02020A00000000000000" pitchFamily="18" charset="-128"/>
                </a:rPr>
                <a:t>2</a:t>
              </a:r>
              <a:endParaRPr lang="zh-CN" altLang="en-US" sz="30000" dirty="0">
                <a:solidFill>
                  <a:srgbClr val="2F5597"/>
                </a:solidFill>
                <a:latin typeface="Kozuka Mincho Pro H" panose="02020A00000000000000" pitchFamily="18" charset="-128"/>
                <a:ea typeface="Kozuka Mincho Pro H" panose="02020A00000000000000" pitchFamily="18" charset="-128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305782" y="2128782"/>
              <a:ext cx="5409303" cy="2200150"/>
              <a:chOff x="4305782" y="2128782"/>
              <a:chExt cx="5409303" cy="220015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4448604" y="2232954"/>
                <a:ext cx="5266481" cy="1979271"/>
              </a:xfrm>
              <a:prstGeom prst="rect">
                <a:avLst/>
              </a:prstGeom>
              <a:solidFill>
                <a:srgbClr val="F4F1F0"/>
              </a:solidFill>
              <a:ln>
                <a:solidFill>
                  <a:srgbClr val="F7F4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0" spc="6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305782" y="2128782"/>
                <a:ext cx="5177809" cy="2200150"/>
              </a:xfrm>
              <a:prstGeom prst="rect">
                <a:avLst/>
              </a:prstGeom>
              <a:noFill/>
              <a:ln>
                <a:solidFill>
                  <a:srgbClr val="F7F4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4683455" y="2637845"/>
              <a:ext cx="6295390" cy="2245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  <a:sym typeface="+mn-ea"/>
                </a:rPr>
                <a:t>领域调研核心论文与工具</a:t>
              </a:r>
              <a:endParaRPr lang="zh-CN" altLang="en-US" sz="7000" spc="20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339067" y="457843"/>
            <a:ext cx="7116682" cy="166589"/>
            <a:chOff x="2339067" y="457843"/>
            <a:chExt cx="7116682" cy="166589"/>
          </a:xfrm>
        </p:grpSpPr>
        <p:grpSp>
          <p:nvGrpSpPr>
            <p:cNvPr id="10" name="组合 9"/>
            <p:cNvGrpSpPr/>
            <p:nvPr/>
          </p:nvGrpSpPr>
          <p:grpSpPr>
            <a:xfrm>
              <a:off x="2339067" y="457843"/>
              <a:ext cx="1828586" cy="136906"/>
              <a:chOff x="2989063" y="523944"/>
              <a:chExt cx="1828586" cy="136906"/>
            </a:xfrm>
          </p:grpSpPr>
          <p:sp>
            <p:nvSpPr>
              <p:cNvPr id="5" name="椭圆 4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7627163" y="487526"/>
              <a:ext cx="1828586" cy="136906"/>
              <a:chOff x="2989063" y="523944"/>
              <a:chExt cx="1828586" cy="136906"/>
            </a:xfrm>
          </p:grpSpPr>
          <p:sp>
            <p:nvSpPr>
              <p:cNvPr id="12" name="椭圆 11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4512310" y="325120"/>
            <a:ext cx="3373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代表性研究论文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58" y="869981"/>
            <a:ext cx="5712037" cy="239066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897407" y="869981"/>
            <a:ext cx="6294593" cy="239066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5897245" y="905510"/>
          <a:ext cx="6294755" cy="2355215"/>
        </p:xfrm>
        <a:graphic>
          <a:graphicData uri="http://schemas.openxmlformats.org/drawingml/2006/table">
            <a:tbl>
              <a:tblPr/>
              <a:tblGrid>
                <a:gridCol w="1865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论文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年份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贡献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引用量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Adversarial Attacks on Sequential Data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首次系统分析</a:t>
                      </a:r>
                      <a:r>
                        <a:rPr lang="zh-CN" altLang="en-US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RNN/LSTM </a:t>
                      </a:r>
                      <a:r>
                        <a:rPr lang="zh-CN" altLang="en-US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对抗脆弱性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500+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Temporal Adversarial Examples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2019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提出关键时间步扰动理论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300+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Robust Training for Time Series Models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2020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对抗训练在时序模型中的应用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450+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Survey on Adversarial ML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2021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全面综述攻击与防御方法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800+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828925" y="4040505"/>
            <a:ext cx="724598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关键发现</a:t>
            </a:r>
            <a:r>
              <a:rPr lang="en-US" altLang="zh-CN" sz="2800" dirty="0"/>
              <a:t> </a:t>
            </a:r>
          </a:p>
          <a:p>
            <a:endParaRPr lang="en-US" altLang="zh-CN" sz="2800" dirty="0"/>
          </a:p>
          <a:p>
            <a:r>
              <a:rPr lang="en-US" altLang="zh-CN" sz="2000" dirty="0"/>
              <a:t>1.LSTM </a:t>
            </a:r>
            <a:r>
              <a:rPr lang="zh-CN" altLang="en-US" sz="2000" dirty="0"/>
              <a:t>对早期时间步更敏感</a:t>
            </a:r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迭代攻击（</a:t>
            </a:r>
            <a:r>
              <a:rPr lang="en-US" altLang="zh-CN" sz="2000" dirty="0"/>
              <a:t>PGD</a:t>
            </a:r>
            <a:r>
              <a:rPr lang="zh-CN" altLang="en-US" sz="2000" dirty="0"/>
              <a:t>）比单步攻击（</a:t>
            </a:r>
            <a:r>
              <a:rPr lang="en-US" altLang="zh-CN" sz="2000" dirty="0"/>
              <a:t>FGSM</a:t>
            </a:r>
            <a:r>
              <a:rPr lang="zh-CN" altLang="en-US" sz="2000" dirty="0"/>
              <a:t>）更有效</a:t>
            </a:r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对抗训练可提升</a:t>
            </a:r>
            <a:r>
              <a:rPr lang="en-US" altLang="zh-CN" sz="2000" dirty="0"/>
              <a:t>30-50%</a:t>
            </a:r>
            <a:r>
              <a:rPr lang="zh-CN" altLang="en-US" sz="2000" dirty="0"/>
              <a:t>鲁棒性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39067" y="457843"/>
            <a:ext cx="7116682" cy="166589"/>
            <a:chOff x="2339067" y="457843"/>
            <a:chExt cx="7116682" cy="166589"/>
          </a:xfrm>
        </p:grpSpPr>
        <p:grpSp>
          <p:nvGrpSpPr>
            <p:cNvPr id="10" name="组合 9"/>
            <p:cNvGrpSpPr/>
            <p:nvPr/>
          </p:nvGrpSpPr>
          <p:grpSpPr>
            <a:xfrm>
              <a:off x="2339067" y="457843"/>
              <a:ext cx="1828586" cy="136906"/>
              <a:chOff x="2989063" y="523944"/>
              <a:chExt cx="1828586" cy="136906"/>
            </a:xfrm>
          </p:grpSpPr>
          <p:sp>
            <p:nvSpPr>
              <p:cNvPr id="5" name="椭圆 4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7627163" y="487526"/>
              <a:ext cx="1828586" cy="136906"/>
              <a:chOff x="2989063" y="523944"/>
              <a:chExt cx="1828586" cy="136906"/>
            </a:xfrm>
          </p:grpSpPr>
          <p:sp>
            <p:nvSpPr>
              <p:cNvPr id="12" name="椭圆 11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4731468" y="314986"/>
            <a:ext cx="24688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主流对抗攻击</a:t>
            </a:r>
          </a:p>
          <a:p>
            <a:pPr algn="l"/>
            <a:r>
              <a:rPr lang="en-US" altLang="zh-CN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  </a:t>
            </a:r>
            <a:r>
              <a:rPr lang="zh-CN" altLang="en-US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工具对比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6759182" y="2492726"/>
            <a:ext cx="4770575" cy="3453485"/>
            <a:chOff x="6349074" y="2159000"/>
            <a:chExt cx="5817709" cy="4211520"/>
          </a:xfrm>
        </p:grpSpPr>
        <p:sp>
          <p:nvSpPr>
            <p:cNvPr id="60" name="任意多边形 59"/>
            <p:cNvSpPr/>
            <p:nvPr/>
          </p:nvSpPr>
          <p:spPr>
            <a:xfrm>
              <a:off x="6728655" y="2692762"/>
              <a:ext cx="5093178" cy="2164195"/>
            </a:xfrm>
            <a:custGeom>
              <a:avLst/>
              <a:gdLst>
                <a:gd name="connsiteX0" fmla="*/ 3232531 w 5923674"/>
                <a:gd name="connsiteY0" fmla="*/ 0 h 2517090"/>
                <a:gd name="connsiteX1" fmla="*/ 3246328 w 5923674"/>
                <a:gd name="connsiteY1" fmla="*/ 570 h 2517090"/>
                <a:gd name="connsiteX2" fmla="*/ 4235313 w 5923674"/>
                <a:gd name="connsiteY2" fmla="*/ 239190 h 2517090"/>
                <a:gd name="connsiteX3" fmla="*/ 4425521 w 5923674"/>
                <a:gd name="connsiteY3" fmla="*/ 327218 h 2517090"/>
                <a:gd name="connsiteX4" fmla="*/ 4389226 w 5923674"/>
                <a:gd name="connsiteY4" fmla="*/ 371209 h 2517090"/>
                <a:gd name="connsiteX5" fmla="*/ 4316959 w 5923674"/>
                <a:gd name="connsiteY5" fmla="*/ 607794 h 2517090"/>
                <a:gd name="connsiteX6" fmla="*/ 4740106 w 5923674"/>
                <a:gd name="connsiteY6" fmla="*/ 1030941 h 2517090"/>
                <a:gd name="connsiteX7" fmla="*/ 5090986 w 5923674"/>
                <a:gd name="connsiteY7" fmla="*/ 844380 h 2517090"/>
                <a:gd name="connsiteX8" fmla="*/ 5114603 w 5923674"/>
                <a:gd name="connsiteY8" fmla="*/ 800869 h 2517090"/>
                <a:gd name="connsiteX9" fmla="*/ 5222263 w 5923674"/>
                <a:gd name="connsiteY9" fmla="*/ 902554 h 2517090"/>
                <a:gd name="connsiteX10" fmla="*/ 5685602 w 5923674"/>
                <a:gd name="connsiteY10" fmla="*/ 1553472 h 2517090"/>
                <a:gd name="connsiteX11" fmla="*/ 5725189 w 5923674"/>
                <a:gd name="connsiteY11" fmla="*/ 1653909 h 2517090"/>
                <a:gd name="connsiteX12" fmla="*/ 5708899 w 5923674"/>
                <a:gd name="connsiteY12" fmla="*/ 1655551 h 2517090"/>
                <a:gd name="connsiteX13" fmla="*/ 5371031 w 5923674"/>
                <a:gd name="connsiteY13" fmla="*/ 2070101 h 2517090"/>
                <a:gd name="connsiteX14" fmla="*/ 5794178 w 5923674"/>
                <a:gd name="connsiteY14" fmla="*/ 2493248 h 2517090"/>
                <a:gd name="connsiteX15" fmla="*/ 5879457 w 5923674"/>
                <a:gd name="connsiteY15" fmla="*/ 2484651 h 2517090"/>
                <a:gd name="connsiteX16" fmla="*/ 5921053 w 5923674"/>
                <a:gd name="connsiteY16" fmla="*/ 2471739 h 2517090"/>
                <a:gd name="connsiteX17" fmla="*/ 5923674 w 5923674"/>
                <a:gd name="connsiteY17" fmla="*/ 2517090 h 2517090"/>
                <a:gd name="connsiteX18" fmla="*/ 0 w 5923674"/>
                <a:gd name="connsiteY18" fmla="*/ 2517090 h 2517090"/>
                <a:gd name="connsiteX19" fmla="*/ 3304 w 5923674"/>
                <a:gd name="connsiteY19" fmla="*/ 2459935 h 2517090"/>
                <a:gd name="connsiteX20" fmla="*/ 3416 w 5923674"/>
                <a:gd name="connsiteY20" fmla="*/ 2459996 h 2517090"/>
                <a:gd name="connsiteX21" fmla="*/ 168124 w 5923674"/>
                <a:gd name="connsiteY21" fmla="*/ 2493249 h 2517090"/>
                <a:gd name="connsiteX22" fmla="*/ 591271 w 5923674"/>
                <a:gd name="connsiteY22" fmla="*/ 2070102 h 2517090"/>
                <a:gd name="connsiteX23" fmla="*/ 253403 w 5923674"/>
                <a:gd name="connsiteY23" fmla="*/ 1655552 h 2517090"/>
                <a:gd name="connsiteX24" fmla="*/ 195909 w 5923674"/>
                <a:gd name="connsiteY24" fmla="*/ 1649756 h 2517090"/>
                <a:gd name="connsiteX25" fmla="*/ 208769 w 5923674"/>
                <a:gd name="connsiteY25" fmla="*/ 1614936 h 2517090"/>
                <a:gd name="connsiteX26" fmla="*/ 607031 w 5923674"/>
                <a:gd name="connsiteY26" fmla="*/ 1004664 h 2517090"/>
                <a:gd name="connsiteX27" fmla="*/ 716969 w 5923674"/>
                <a:gd name="connsiteY27" fmla="*/ 890375 h 2517090"/>
                <a:gd name="connsiteX28" fmla="*/ 730689 w 5923674"/>
                <a:gd name="connsiteY28" fmla="*/ 907004 h 2517090"/>
                <a:gd name="connsiteX29" fmla="*/ 1029899 w 5923674"/>
                <a:gd name="connsiteY29" fmla="*/ 1030941 h 2517090"/>
                <a:gd name="connsiteX30" fmla="*/ 1453046 w 5923674"/>
                <a:gd name="connsiteY30" fmla="*/ 607794 h 2517090"/>
                <a:gd name="connsiteX31" fmla="*/ 1419793 w 5923674"/>
                <a:gd name="connsiteY31" fmla="*/ 443086 h 2517090"/>
                <a:gd name="connsiteX32" fmla="*/ 1387665 w 5923674"/>
                <a:gd name="connsiteY32" fmla="*/ 383894 h 2517090"/>
                <a:gd name="connsiteX33" fmla="*/ 1393695 w 5923674"/>
                <a:gd name="connsiteY33" fmla="*/ 380266 h 2517090"/>
                <a:gd name="connsiteX34" fmla="*/ 2332586 w 5923674"/>
                <a:gd name="connsiteY34" fmla="*/ 47247 h 2517090"/>
                <a:gd name="connsiteX35" fmla="*/ 2396839 w 5923674"/>
                <a:gd name="connsiteY35" fmla="*/ 37179 h 2517090"/>
                <a:gd name="connsiteX36" fmla="*/ 2398261 w 5923674"/>
                <a:gd name="connsiteY36" fmla="*/ 51285 h 2517090"/>
                <a:gd name="connsiteX37" fmla="*/ 2812811 w 5923674"/>
                <a:gd name="connsiteY37" fmla="*/ 389153 h 2517090"/>
                <a:gd name="connsiteX38" fmla="*/ 3227361 w 5923674"/>
                <a:gd name="connsiteY38" fmla="*/ 51285 h 2517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923674" h="2517090">
                  <a:moveTo>
                    <a:pt x="3232531" y="0"/>
                  </a:moveTo>
                  <a:lnTo>
                    <a:pt x="3246328" y="570"/>
                  </a:lnTo>
                  <a:cubicBezTo>
                    <a:pt x="3597438" y="29767"/>
                    <a:pt x="3930698" y="112451"/>
                    <a:pt x="4235313" y="239190"/>
                  </a:cubicBezTo>
                  <a:lnTo>
                    <a:pt x="4425521" y="327218"/>
                  </a:lnTo>
                  <a:lnTo>
                    <a:pt x="4389226" y="371209"/>
                  </a:lnTo>
                  <a:cubicBezTo>
                    <a:pt x="4343600" y="438743"/>
                    <a:pt x="4316959" y="520157"/>
                    <a:pt x="4316959" y="607794"/>
                  </a:cubicBezTo>
                  <a:cubicBezTo>
                    <a:pt x="4316959" y="841492"/>
                    <a:pt x="4506408" y="1030941"/>
                    <a:pt x="4740106" y="1030941"/>
                  </a:cubicBezTo>
                  <a:cubicBezTo>
                    <a:pt x="4886167" y="1030941"/>
                    <a:pt x="5014944" y="956938"/>
                    <a:pt x="5090986" y="844380"/>
                  </a:cubicBezTo>
                  <a:lnTo>
                    <a:pt x="5114603" y="800869"/>
                  </a:lnTo>
                  <a:lnTo>
                    <a:pt x="5222263" y="902554"/>
                  </a:lnTo>
                  <a:cubicBezTo>
                    <a:pt x="5411382" y="1096929"/>
                    <a:pt x="5568239" y="1316007"/>
                    <a:pt x="5685602" y="1553472"/>
                  </a:cubicBezTo>
                  <a:lnTo>
                    <a:pt x="5725189" y="1653909"/>
                  </a:lnTo>
                  <a:lnTo>
                    <a:pt x="5708899" y="1655551"/>
                  </a:lnTo>
                  <a:cubicBezTo>
                    <a:pt x="5516078" y="1695008"/>
                    <a:pt x="5371031" y="1865615"/>
                    <a:pt x="5371031" y="2070101"/>
                  </a:cubicBezTo>
                  <a:cubicBezTo>
                    <a:pt x="5371031" y="2303799"/>
                    <a:pt x="5560480" y="2493248"/>
                    <a:pt x="5794178" y="2493248"/>
                  </a:cubicBezTo>
                  <a:cubicBezTo>
                    <a:pt x="5823390" y="2493248"/>
                    <a:pt x="5851911" y="2490288"/>
                    <a:pt x="5879457" y="2484651"/>
                  </a:cubicBezTo>
                  <a:lnTo>
                    <a:pt x="5921053" y="2471739"/>
                  </a:lnTo>
                  <a:lnTo>
                    <a:pt x="5923674" y="2517090"/>
                  </a:lnTo>
                  <a:lnTo>
                    <a:pt x="0" y="2517090"/>
                  </a:lnTo>
                  <a:lnTo>
                    <a:pt x="3304" y="2459935"/>
                  </a:lnTo>
                  <a:lnTo>
                    <a:pt x="3416" y="2459996"/>
                  </a:lnTo>
                  <a:cubicBezTo>
                    <a:pt x="54041" y="2481409"/>
                    <a:pt x="109700" y="2493249"/>
                    <a:pt x="168124" y="2493249"/>
                  </a:cubicBezTo>
                  <a:cubicBezTo>
                    <a:pt x="401822" y="2493249"/>
                    <a:pt x="591271" y="2303800"/>
                    <a:pt x="591271" y="2070102"/>
                  </a:cubicBezTo>
                  <a:cubicBezTo>
                    <a:pt x="591271" y="1865616"/>
                    <a:pt x="446224" y="1695009"/>
                    <a:pt x="253403" y="1655552"/>
                  </a:cubicBezTo>
                  <a:lnTo>
                    <a:pt x="195909" y="1649756"/>
                  </a:lnTo>
                  <a:lnTo>
                    <a:pt x="208769" y="1614936"/>
                  </a:lnTo>
                  <a:cubicBezTo>
                    <a:pt x="309834" y="1394986"/>
                    <a:pt x="444430" y="1189952"/>
                    <a:pt x="607031" y="1004664"/>
                  </a:cubicBezTo>
                  <a:lnTo>
                    <a:pt x="716969" y="890375"/>
                  </a:lnTo>
                  <a:lnTo>
                    <a:pt x="730689" y="907004"/>
                  </a:lnTo>
                  <a:cubicBezTo>
                    <a:pt x="807264" y="983579"/>
                    <a:pt x="913050" y="1030941"/>
                    <a:pt x="1029899" y="1030941"/>
                  </a:cubicBezTo>
                  <a:cubicBezTo>
                    <a:pt x="1263597" y="1030941"/>
                    <a:pt x="1453046" y="841492"/>
                    <a:pt x="1453046" y="607794"/>
                  </a:cubicBezTo>
                  <a:cubicBezTo>
                    <a:pt x="1453046" y="549370"/>
                    <a:pt x="1441206" y="493711"/>
                    <a:pt x="1419793" y="443086"/>
                  </a:cubicBezTo>
                  <a:lnTo>
                    <a:pt x="1387665" y="383894"/>
                  </a:lnTo>
                  <a:lnTo>
                    <a:pt x="1393695" y="380266"/>
                  </a:lnTo>
                  <a:cubicBezTo>
                    <a:pt x="1678014" y="225204"/>
                    <a:pt x="1994576" y="111054"/>
                    <a:pt x="2332586" y="47247"/>
                  </a:cubicBezTo>
                  <a:lnTo>
                    <a:pt x="2396839" y="37179"/>
                  </a:lnTo>
                  <a:lnTo>
                    <a:pt x="2398261" y="51285"/>
                  </a:lnTo>
                  <a:cubicBezTo>
                    <a:pt x="2437718" y="244106"/>
                    <a:pt x="2608326" y="389153"/>
                    <a:pt x="2812811" y="389153"/>
                  </a:cubicBezTo>
                  <a:cubicBezTo>
                    <a:pt x="3017297" y="389153"/>
                    <a:pt x="3187904" y="244106"/>
                    <a:pt x="3227361" y="51285"/>
                  </a:cubicBezTo>
                  <a:close/>
                </a:path>
              </a:pathLst>
            </a:custGeom>
            <a:noFill/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4878" y="2596055"/>
              <a:ext cx="1238578" cy="1238578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2977" y="2159000"/>
              <a:ext cx="1048269" cy="1048269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4201" y="4016346"/>
              <a:ext cx="912582" cy="912582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0287" y="2733355"/>
              <a:ext cx="947827" cy="947827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9074" y="3962674"/>
              <a:ext cx="1048269" cy="1048269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5467"/>
                      </a14:imgEffect>
                      <a14:imgEffect>
                        <a14:saturation sat="5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7272" y="4226042"/>
              <a:ext cx="2144478" cy="2144478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</p:pic>
      </p:grpSp>
      <p:pic>
        <p:nvPicPr>
          <p:cNvPr id="19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170" y="1144905"/>
            <a:ext cx="10423525" cy="571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39067" y="457843"/>
            <a:ext cx="7116682" cy="166589"/>
            <a:chOff x="2339067" y="457843"/>
            <a:chExt cx="7116682" cy="166589"/>
          </a:xfrm>
        </p:grpSpPr>
        <p:grpSp>
          <p:nvGrpSpPr>
            <p:cNvPr id="10" name="组合 9"/>
            <p:cNvGrpSpPr/>
            <p:nvPr/>
          </p:nvGrpSpPr>
          <p:grpSpPr>
            <a:xfrm>
              <a:off x="2339067" y="457843"/>
              <a:ext cx="1828586" cy="136906"/>
              <a:chOff x="2989063" y="523944"/>
              <a:chExt cx="1828586" cy="136906"/>
            </a:xfrm>
          </p:grpSpPr>
          <p:sp>
            <p:nvSpPr>
              <p:cNvPr id="5" name="椭圆 4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7627163" y="487526"/>
              <a:ext cx="1828586" cy="136906"/>
              <a:chOff x="2989063" y="523944"/>
              <a:chExt cx="1828586" cy="136906"/>
            </a:xfrm>
          </p:grpSpPr>
          <p:sp>
            <p:nvSpPr>
              <p:cNvPr id="12" name="椭圆 11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4488263" y="325146"/>
            <a:ext cx="2849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工具特性对比表</a:t>
            </a:r>
          </a:p>
        </p:txBody>
      </p:sp>
      <p:graphicFrame>
        <p:nvGraphicFramePr>
          <p:cNvPr id="19" name="表格 18"/>
          <p:cNvGraphicFramePr/>
          <p:nvPr/>
        </p:nvGraphicFramePr>
        <p:xfrm>
          <a:off x="0" y="1263650"/>
          <a:ext cx="12195175" cy="5594350"/>
        </p:xfrm>
        <a:graphic>
          <a:graphicData uri="http://schemas.openxmlformats.org/drawingml/2006/table">
            <a:tbl>
              <a:tblPr/>
              <a:tblGrid>
                <a:gridCol w="2439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9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1887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工具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时序支持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易用性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文档质量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社区活跃度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87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Foolbox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87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ART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87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CleverHans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887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TorchAttacks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⭐⭐⭐⭐⭐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125165" y="868100"/>
            <a:ext cx="7914640" cy="4708981"/>
            <a:chOff x="3125165" y="868100"/>
            <a:chExt cx="7914640" cy="4708981"/>
          </a:xfrm>
        </p:grpSpPr>
        <p:sp>
          <p:nvSpPr>
            <p:cNvPr id="4" name="文本框 3"/>
            <p:cNvSpPr txBox="1"/>
            <p:nvPr/>
          </p:nvSpPr>
          <p:spPr>
            <a:xfrm>
              <a:off x="3125165" y="868100"/>
              <a:ext cx="2646878" cy="4708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0" dirty="0">
                  <a:solidFill>
                    <a:srgbClr val="2F5597"/>
                  </a:solidFill>
                  <a:latin typeface="Kozuka Mincho Pro H" panose="02020A00000000000000" pitchFamily="18" charset="-128"/>
                  <a:ea typeface="Kozuka Mincho Pro H" panose="02020A00000000000000" pitchFamily="18" charset="-128"/>
                </a:rPr>
                <a:t>3</a:t>
              </a:r>
              <a:endParaRPr lang="zh-CN" altLang="en-US" sz="30000" dirty="0">
                <a:solidFill>
                  <a:srgbClr val="2F5597"/>
                </a:solidFill>
                <a:latin typeface="Kozuka Mincho Pro H" panose="02020A00000000000000" pitchFamily="18" charset="-128"/>
                <a:ea typeface="Kozuka Mincho Pro H" panose="02020A00000000000000" pitchFamily="18" charset="-128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305782" y="2128782"/>
              <a:ext cx="5409303" cy="2200150"/>
              <a:chOff x="4305782" y="2128782"/>
              <a:chExt cx="5409303" cy="220015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4448604" y="2232954"/>
                <a:ext cx="5266481" cy="1979271"/>
              </a:xfrm>
              <a:prstGeom prst="rect">
                <a:avLst/>
              </a:prstGeom>
              <a:solidFill>
                <a:srgbClr val="F5F2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0" spc="6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305782" y="2128782"/>
                <a:ext cx="5177809" cy="2200150"/>
              </a:xfrm>
              <a:prstGeom prst="rect">
                <a:avLst/>
              </a:prstGeom>
              <a:noFill/>
              <a:ln>
                <a:solidFill>
                  <a:srgbClr val="F8F5F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4683455" y="2637845"/>
              <a:ext cx="6356350" cy="2245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0" spc="20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选择的开源项目及理由</a:t>
              </a: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339067" y="457843"/>
            <a:ext cx="7116682" cy="166589"/>
            <a:chOff x="2339067" y="457843"/>
            <a:chExt cx="7116682" cy="166589"/>
          </a:xfrm>
        </p:grpSpPr>
        <p:grpSp>
          <p:nvGrpSpPr>
            <p:cNvPr id="3" name="组合 2"/>
            <p:cNvGrpSpPr/>
            <p:nvPr/>
          </p:nvGrpSpPr>
          <p:grpSpPr>
            <a:xfrm>
              <a:off x="2339067" y="457843"/>
              <a:ext cx="1828586" cy="136906"/>
              <a:chOff x="2989063" y="523944"/>
              <a:chExt cx="1828586" cy="136906"/>
            </a:xfrm>
          </p:grpSpPr>
          <p:sp>
            <p:nvSpPr>
              <p:cNvPr id="10" name="椭圆 9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flipH="1">
              <a:off x="7627163" y="487526"/>
              <a:ext cx="1828586" cy="136906"/>
              <a:chOff x="2989063" y="523944"/>
              <a:chExt cx="1828586" cy="136906"/>
            </a:xfrm>
          </p:grpSpPr>
          <p:sp>
            <p:nvSpPr>
              <p:cNvPr id="6" name="椭圆 5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5035633" y="293919"/>
            <a:ext cx="2468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选定开源项目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3656823"/>
            <a:ext cx="12192000" cy="318820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51104" y="1743456"/>
            <a:ext cx="3716549" cy="3716549"/>
            <a:chOff x="451104" y="1743456"/>
            <a:chExt cx="3716549" cy="3716549"/>
          </a:xfrm>
        </p:grpSpPr>
        <p:sp>
          <p:nvSpPr>
            <p:cNvPr id="63" name="椭圆 62"/>
            <p:cNvSpPr/>
            <p:nvPr/>
          </p:nvSpPr>
          <p:spPr>
            <a:xfrm>
              <a:off x="451104" y="1743456"/>
              <a:ext cx="3716549" cy="3716549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616341" y="1877822"/>
              <a:ext cx="3386074" cy="3386074"/>
            </a:xfrm>
            <a:prstGeom prst="ellipse">
              <a:avLst/>
            </a:prstGeom>
            <a:noFill/>
            <a:ln w="184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933805" y="2187946"/>
              <a:ext cx="2751143" cy="2751143"/>
            </a:xfrm>
            <a:prstGeom prst="ellipse">
              <a:avLst/>
            </a:prstGeom>
            <a:noFill/>
            <a:ln w="184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785700" y="2047181"/>
              <a:ext cx="3047355" cy="3047355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064423" y="2369711"/>
              <a:ext cx="2419233" cy="2419233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246188" y="2504077"/>
              <a:ext cx="2121936" cy="2121936"/>
            </a:xfrm>
            <a:prstGeom prst="ellipse">
              <a:avLst/>
            </a:prstGeom>
            <a:noFill/>
            <a:ln w="184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99277" y="2671448"/>
              <a:ext cx="1815757" cy="1815757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4303395" y="1077595"/>
            <a:ext cx="7888605" cy="22561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选定项目：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TorchAttacks + UCI HAR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</a:t>
            </a:r>
          </a:p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网址：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https://github.com/Harry24k/adversarial-attacks-pytorch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5815750" y="4052846"/>
            <a:ext cx="5876543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项目信息</a:t>
            </a:r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Stars: 2,500+</a:t>
            </a:r>
          </a:p>
          <a:p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创建时间</a:t>
            </a:r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2019 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  <a:p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PyTorch</a:t>
            </a:r>
          </a:p>
          <a:p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许可证</a:t>
            </a:r>
            <a:r>
              <a:rPr lang="en-US" altLang="zh-CN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MIT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708" y="2639217"/>
            <a:ext cx="2383743" cy="115834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25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2" grpId="0" bldLvl="0" animBg="1"/>
      <p:bldP spid="72" grpId="0"/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339067" y="457843"/>
            <a:ext cx="7116682" cy="166589"/>
            <a:chOff x="2339067" y="457843"/>
            <a:chExt cx="7116682" cy="166589"/>
          </a:xfrm>
        </p:grpSpPr>
        <p:grpSp>
          <p:nvGrpSpPr>
            <p:cNvPr id="3" name="组合 2"/>
            <p:cNvGrpSpPr/>
            <p:nvPr/>
          </p:nvGrpSpPr>
          <p:grpSpPr>
            <a:xfrm>
              <a:off x="2339067" y="457843"/>
              <a:ext cx="1828586" cy="136906"/>
              <a:chOff x="2989063" y="523944"/>
              <a:chExt cx="1828586" cy="136906"/>
            </a:xfrm>
          </p:grpSpPr>
          <p:sp>
            <p:nvSpPr>
              <p:cNvPr id="10" name="椭圆 9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flipH="1">
              <a:off x="7627163" y="487526"/>
              <a:ext cx="1828586" cy="136906"/>
              <a:chOff x="2989063" y="523944"/>
              <a:chExt cx="1828586" cy="136906"/>
            </a:xfrm>
          </p:grpSpPr>
          <p:sp>
            <p:nvSpPr>
              <p:cNvPr id="6" name="椭圆 5"/>
              <p:cNvSpPr/>
              <p:nvPr/>
            </p:nvSpPr>
            <p:spPr>
              <a:xfrm flipH="1">
                <a:off x="3528429" y="548763"/>
                <a:ext cx="95079" cy="95079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4092608" y="532880"/>
                <a:ext cx="119035" cy="119035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4680743" y="523944"/>
                <a:ext cx="136906" cy="13690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flipH="1">
                <a:off x="2989063" y="561170"/>
                <a:ext cx="70266" cy="70266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4281888" y="293919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spc="600" dirty="0">
                <a:solidFill>
                  <a:srgbClr val="2F5597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  <a:sym typeface="+mn-ea"/>
              </a:rPr>
              <a:t>选择该项目的理由</a:t>
            </a:r>
            <a:endParaRPr lang="zh-CN" altLang="en-US" sz="2400" spc="600" dirty="0">
              <a:solidFill>
                <a:srgbClr val="2F5597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3656823"/>
            <a:ext cx="12192000" cy="318820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51104" y="1743456"/>
            <a:ext cx="3716549" cy="3716549"/>
            <a:chOff x="451104" y="1743456"/>
            <a:chExt cx="3716549" cy="3716549"/>
          </a:xfrm>
        </p:grpSpPr>
        <p:sp>
          <p:nvSpPr>
            <p:cNvPr id="63" name="椭圆 62"/>
            <p:cNvSpPr/>
            <p:nvPr/>
          </p:nvSpPr>
          <p:spPr>
            <a:xfrm>
              <a:off x="451104" y="1743456"/>
              <a:ext cx="3716549" cy="3716549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616341" y="1877822"/>
              <a:ext cx="3386074" cy="3386074"/>
            </a:xfrm>
            <a:prstGeom prst="ellipse">
              <a:avLst/>
            </a:prstGeom>
            <a:noFill/>
            <a:ln w="184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933805" y="2187946"/>
              <a:ext cx="2751143" cy="2751143"/>
            </a:xfrm>
            <a:prstGeom prst="ellipse">
              <a:avLst/>
            </a:prstGeom>
            <a:noFill/>
            <a:ln w="184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785700" y="2047181"/>
              <a:ext cx="3047355" cy="3047355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064423" y="2369711"/>
              <a:ext cx="2419233" cy="2419233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246188" y="2504077"/>
              <a:ext cx="2121936" cy="2121936"/>
            </a:xfrm>
            <a:prstGeom prst="ellipse">
              <a:avLst/>
            </a:prstGeom>
            <a:noFill/>
            <a:ln w="184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99277" y="2671448"/>
              <a:ext cx="1815757" cy="1815757"/>
            </a:xfrm>
            <a:prstGeom prst="ellipse">
              <a:avLst/>
            </a:prstGeom>
            <a:noFill/>
            <a:ln w="184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5152390" y="1275715"/>
            <a:ext cx="7888605" cy="22561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技术优势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l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代码质量高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模块化设计，结构清晰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每个攻击方法独立封装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遵循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PyTorch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最佳实践</a:t>
            </a:r>
          </a:p>
          <a:p>
            <a:pPr algn="l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093755" y="3657241"/>
            <a:ext cx="5876543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代码示例（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FGSM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实现）：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 FGSM(Attack):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def forward(self, X, y):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X_adv = self._X_delta(X)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grad = self._get_grad(X_adv, y)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X_adv = X_adv + self.eps * grad.sign()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return torch.clamp(X_adv, min=self.min, max=self.max)</a:t>
            </a:r>
            <a:endParaRPr lang="en-US" altLang="zh-CN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708" y="2639217"/>
            <a:ext cx="2383743" cy="115834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25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2" grpId="0" bldLvl="0" animBg="1"/>
      <p:bldP spid="72" grpId="0"/>
      <p:bldP spid="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6F09A-B0E1-86D3-1DDD-DA7C9E9AF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174" y="373626"/>
            <a:ext cx="10515600" cy="59681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易于扩展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(1)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Attack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定义了清晰的接口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(2)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只需重写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forward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方法即可添加新攻击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(3)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支持自定义约束条件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生态完整性 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(1)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文档完善：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官方文档：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https://torchattacks.readthedocs.io/ 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(2)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每个攻击方法都有详细公式和参数说明 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(3)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提供多个使用示例（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MNIST, CIFAR, ImageNet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社区活跃</a:t>
            </a:r>
          </a:p>
          <a:p>
            <a:pPr marL="0" lv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(1)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持续更新（最近提交：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年）</a:t>
            </a:r>
          </a:p>
          <a:p>
            <a:pPr marL="0" lv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(2)Issue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响应及时 </a:t>
            </a:r>
          </a:p>
          <a:p>
            <a:pPr marL="0" lvl="0" indent="0"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(3)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定期合并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62604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5097B-F4A0-5328-8189-CD3FEE914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4"/>
            <a:ext cx="10515600" cy="6528619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兼容性强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复现难度适中 </a:t>
            </a:r>
          </a:p>
          <a:p>
            <a:pPr marL="0" indent="0"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(1)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 1000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(2)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依赖库少（仅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(3)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2-3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周内完成复现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评估指标齐全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(1)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内置准确率计算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(2)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支持自定义评估函数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(3)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便于添加鲁棒性指标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2F1E6F-C9CC-641F-A511-DD882D8C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556" y="551159"/>
            <a:ext cx="6956396" cy="2015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2713191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125165" y="868100"/>
            <a:ext cx="6732742" cy="4708981"/>
            <a:chOff x="3125165" y="868100"/>
            <a:chExt cx="6732742" cy="4708981"/>
          </a:xfrm>
        </p:grpSpPr>
        <p:sp>
          <p:nvSpPr>
            <p:cNvPr id="4" name="文本框 3"/>
            <p:cNvSpPr txBox="1"/>
            <p:nvPr/>
          </p:nvSpPr>
          <p:spPr>
            <a:xfrm>
              <a:off x="3125165" y="868100"/>
              <a:ext cx="2646878" cy="4708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0" dirty="0">
                  <a:solidFill>
                    <a:srgbClr val="2F5597"/>
                  </a:solidFill>
                  <a:latin typeface="Kozuka Mincho Pro H" panose="02020A00000000000000" pitchFamily="18" charset="-128"/>
                  <a:ea typeface="Kozuka Mincho Pro H" panose="02020A00000000000000" pitchFamily="18" charset="-128"/>
                </a:rPr>
                <a:t>4</a:t>
              </a:r>
              <a:endParaRPr lang="zh-CN" altLang="en-US" sz="30000" dirty="0">
                <a:solidFill>
                  <a:srgbClr val="2F5597"/>
                </a:solidFill>
                <a:latin typeface="Kozuka Mincho Pro H" panose="02020A00000000000000" pitchFamily="18" charset="-128"/>
                <a:ea typeface="Kozuka Mincho Pro H" panose="02020A00000000000000" pitchFamily="18" charset="-128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305782" y="2128782"/>
              <a:ext cx="5409303" cy="2200150"/>
              <a:chOff x="4305782" y="2128782"/>
              <a:chExt cx="5409303" cy="220015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4448604" y="2232954"/>
                <a:ext cx="5266481" cy="1979271"/>
              </a:xfrm>
              <a:prstGeom prst="rect">
                <a:avLst/>
              </a:prstGeom>
              <a:solidFill>
                <a:srgbClr val="F5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0" spc="6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305782" y="2128782"/>
                <a:ext cx="5177809" cy="2200150"/>
              </a:xfrm>
              <a:prstGeom prst="rect">
                <a:avLst/>
              </a:prstGeom>
              <a:noFill/>
              <a:ln>
                <a:solidFill>
                  <a:srgbClr val="F1EF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4683564" y="2637813"/>
              <a:ext cx="5174343" cy="1168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0" spc="2000" dirty="0">
                  <a:solidFill>
                    <a:srgbClr val="2F5597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改进思路</a:t>
              </a: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12FB8649-26AF-A04E-4652-DF51BE4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" y="611187"/>
            <a:ext cx="10515600" cy="56356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改进方向一：注意力引导的时序攻击 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1.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动机：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预期优势：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相比均匀扰动，攻击成功率提升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15-20%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可解释性强（可视化敏感时间步）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5F0B181-D3CE-A6A9-3234-4A0A9D4BA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976" y="2527545"/>
            <a:ext cx="8343480" cy="9014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0132383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CCCD79-1802-D01E-B4E4-33B6AAAA7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1613"/>
            <a:ext cx="10881852" cy="568535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改进方向二：自适应时序防御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问题洞察：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3.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潜在挑战与对策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                                                                        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2.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预期效果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(1)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在相同攻击强度下，准确率提升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10-15%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(2)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计算开销增加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 5%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343582-FF3C-6767-52C4-8D4119733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176" y="1291833"/>
            <a:ext cx="2011045" cy="31927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C2BF962-AD19-22C8-6DB3-6EF81BEA2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770653"/>
              </p:ext>
            </p:extLst>
          </p:nvPr>
        </p:nvGraphicFramePr>
        <p:xfrm>
          <a:off x="6378679" y="1291833"/>
          <a:ext cx="4741606" cy="43125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0618">
                  <a:extLst>
                    <a:ext uri="{9D8B030D-6E8A-4147-A177-3AD203B41FA5}">
                      <a16:colId xmlns:a16="http://schemas.microsoft.com/office/drawing/2014/main" val="3662732641"/>
                    </a:ext>
                  </a:extLst>
                </a:gridCol>
                <a:gridCol w="1240618">
                  <a:extLst>
                    <a:ext uri="{9D8B030D-6E8A-4147-A177-3AD203B41FA5}">
                      <a16:colId xmlns:a16="http://schemas.microsoft.com/office/drawing/2014/main" val="2476022872"/>
                    </a:ext>
                  </a:extLst>
                </a:gridCol>
                <a:gridCol w="1240618">
                  <a:extLst>
                    <a:ext uri="{9D8B030D-6E8A-4147-A177-3AD203B41FA5}">
                      <a16:colId xmlns:a16="http://schemas.microsoft.com/office/drawing/2014/main" val="1682030005"/>
                    </a:ext>
                  </a:extLst>
                </a:gridCol>
                <a:gridCol w="1019752">
                  <a:extLst>
                    <a:ext uri="{9D8B030D-6E8A-4147-A177-3AD203B41FA5}">
                      <a16:colId xmlns:a16="http://schemas.microsoft.com/office/drawing/2014/main" val="598085299"/>
                    </a:ext>
                  </a:extLst>
                </a:gridCol>
              </a:tblGrid>
              <a:tr h="7479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挑战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 dirty="0">
                          <a:effectLst/>
                        </a:rPr>
                        <a:t>可能性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影响程度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应对策略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97722780"/>
                  </a:ext>
                </a:extLst>
              </a:tr>
              <a:tr h="7102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kern="0">
                          <a:effectLst/>
                        </a:rPr>
                        <a:t>GPU </a:t>
                      </a:r>
                      <a:r>
                        <a:rPr lang="zh-CN" sz="1200" kern="0">
                          <a:effectLst/>
                        </a:rPr>
                        <a:t>资源不足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中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中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使用</a:t>
                      </a:r>
                      <a:r>
                        <a:rPr lang="en-US" sz="1200" kern="0">
                          <a:effectLst/>
                        </a:rPr>
                        <a:t> CPU </a:t>
                      </a:r>
                      <a:r>
                        <a:rPr lang="zh-CN" sz="1200" kern="0">
                          <a:effectLst/>
                        </a:rPr>
                        <a:t>训练小模型；</a:t>
                      </a:r>
                      <a:r>
                        <a:rPr lang="en-US" sz="1200" kern="0">
                          <a:effectLst/>
                        </a:rPr>
                        <a:t>Google Colab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619357365"/>
                  </a:ext>
                </a:extLst>
              </a:tr>
              <a:tr h="7102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 dirty="0">
                          <a:effectLst/>
                        </a:rPr>
                        <a:t>攻击成功率低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 dirty="0">
                          <a:effectLst/>
                        </a:rPr>
                        <a:t>中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高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调参优化；多攻击组合；参考论文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93532264"/>
                  </a:ext>
                </a:extLst>
              </a:tr>
              <a:tr h="678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防御效果不明显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高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中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尝试集成防御；元学习方法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23436096"/>
                  </a:ext>
                </a:extLst>
              </a:tr>
              <a:tr h="530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数据集质量问题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低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 dirty="0">
                          <a:effectLst/>
                        </a:rPr>
                        <a:t>中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使用合成数据作为备选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199989487"/>
                  </a:ext>
                </a:extLst>
              </a:tr>
              <a:tr h="9350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时间紧张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中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>
                          <a:effectLst/>
                        </a:rPr>
                        <a:t>高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kern="0" dirty="0">
                          <a:effectLst/>
                        </a:rPr>
                        <a:t>优先保证核心功能；简化可视化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093723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191041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D7B100-D1FC-75B3-1295-65AE033DD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540774"/>
            <a:ext cx="11326761" cy="56361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参考资料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核心论文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1.Goodfellow et al. "Explaining and Harnessing Adversarial Examples" (ICLR 2015)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2.Madry et al. "Towards Deep Learning Models Resistant to Adversarial Attacks" (ICLR 2018)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3.Kurakin et al. "Adversarial Examples in the Physical World" (IJCV 2018)</a:t>
            </a:r>
          </a:p>
          <a:p>
            <a:pPr marL="0" indent="0">
              <a:buNone/>
            </a:pP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UCIHAR: 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1.https://archive.ics.uci.edu/ml/datasets/human+activity+recognition+using+smartphones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2.torchvision.datasets.UCIHAR (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程序化下载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059011"/>
      </p:ext>
    </p:extLst>
  </p:cSld>
  <p:clrMapOvr>
    <a:masterClrMapping/>
  </p:clrMapOvr>
  <p:transition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TRACKING_SLIDE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1233858267716,&quot;left&quot;:480.72212598425193,&quot;top&quot;:92.43370078740158,&quot;width&quot;:416.0766141732283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83535433070864,&quot;left&quot;:120.79338582677164,&quot;top&quot;:155.87393700787402,&quot;width&quot;:833.224881889763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920</Words>
  <Application>Microsoft Office PowerPoint</Application>
  <PresentationFormat>宽屏</PresentationFormat>
  <Paragraphs>215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Adobe Caslon Pro Bold</vt:lpstr>
      <vt:lpstr>Kozuka Mincho Pro H</vt:lpstr>
      <vt:lpstr>汉仪菱心体简</vt:lpstr>
      <vt:lpstr>宋体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lastModifiedBy>帅帅 李</cp:lastModifiedBy>
  <cp:revision>128</cp:revision>
  <dcterms:created xsi:type="dcterms:W3CDTF">2016-05-06T03:10:00Z</dcterms:created>
  <dcterms:modified xsi:type="dcterms:W3CDTF">2026-03-21T13:19:43Z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174C05A293274B8D9349679B4308D0E0_13</vt:lpwstr>
  </property>
</Properties>
</file>