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开题汇报</a:t>
            </a:r>
          </a:p>
          <a:p>
            <a:r>
              <a:t>HapTest动态分析框架研究</a:t>
            </a:r>
          </a:p>
        </p:txBody>
      </p:sp>
      <p:sp>
        <p:nvSpPr>
          <p:cNvPr id="3" name="Content Placeholder 2"/>
          <p:cNvSpPr>
            <a:spLocks noGrp="1"/>
          </p:cNvSpPr>
          <p:nvPr>
            <p:ph idx="1"/>
          </p:nvPr>
        </p:nvSpPr>
        <p:spPr>
          <a:xfrm>
            <a:off x="457200" y="2450465"/>
            <a:ext cx="8229600" cy="3676015"/>
          </a:xfrm>
        </p:spPr>
        <p:txBody>
          <a:bodyPr/>
          <a:lstStyle/>
          <a:p>
            <a:r>
              <a:t>课程：软件质量保障</a:t>
            </a:r>
          </a:p>
          <a:p>
            <a:r>
              <a:t>主题：OpenHarmony应用测试</a:t>
            </a:r>
          </a:p>
          <a:p>
            <a:r>
              <a:rPr lang="zh-CN"/>
              <a:t>小组成员：余和家、罗昊、魏玉恺、吴沐宸、易川翔</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研究背景</a:t>
            </a:r>
          </a:p>
        </p:txBody>
      </p:sp>
      <p:sp>
        <p:nvSpPr>
          <p:cNvPr id="3" name="Content Placeholder 2"/>
          <p:cNvSpPr>
            <a:spLocks noGrp="1"/>
          </p:cNvSpPr>
          <p:nvPr>
            <p:ph idx="1"/>
          </p:nvPr>
        </p:nvSpPr>
        <p:spPr>
          <a:xfrm>
            <a:off x="457200" y="1600200"/>
            <a:ext cx="8229600" cy="4784090"/>
          </a:xfrm>
        </p:spPr>
        <p:txBody>
          <a:bodyPr>
            <a:normAutofit fontScale="80000"/>
          </a:bodyPr>
          <a:lstStyle/>
          <a:p>
            <a:r>
              <a:t>• 移动应用复杂度不断提升</a:t>
            </a:r>
          </a:p>
          <a:p>
            <a:pPr marL="457200" lvl="1" indent="457200">
              <a:buNone/>
            </a:pPr>
            <a:r>
              <a:rPr lang="zh-CN" altLang="en-US" sz="2000"/>
              <a:t>随着移动互联网的快速发展，现代移动应用的功能日益丰富，架构日趋复杂，涉及多模块协作、跨平台兼容、实时数据交互等多种技术挑战。应用代码规模从几千行增长到数十万行，业务逻辑和</a:t>
            </a:r>
            <a:r>
              <a:rPr lang="en-US" altLang="zh-CN" sz="2000"/>
              <a:t>UI</a:t>
            </a:r>
            <a:r>
              <a:rPr lang="zh-CN" altLang="en-US" sz="2000"/>
              <a:t>交互的复杂程度显著提高，这对开发者的编码能力和测试策略提出了更高要求。</a:t>
            </a:r>
            <a:endParaRPr lang="zh-CN" altLang="en-US" sz="1575"/>
          </a:p>
          <a:p>
            <a:r>
              <a:t>• 质量问题（崩溃/性能/安全）突出</a:t>
            </a:r>
          </a:p>
          <a:p>
            <a:pPr marL="457200" lvl="1" indent="457200">
              <a:buNone/>
            </a:pPr>
            <a:r>
              <a:rPr lang="zh-CN" altLang="en-US" sz="2000"/>
              <a:t>移动应用在实际运行中面临崩溃、卡顿、内存泄漏、数据泄露等多种质量问题，直接影响用户体验和应用口碑。据统计，超过</a:t>
            </a:r>
            <a:r>
              <a:rPr lang="en-US" altLang="zh-CN" sz="2000"/>
              <a:t>70%</a:t>
            </a:r>
            <a:r>
              <a:rPr lang="zh-CN" altLang="en-US" sz="2000"/>
              <a:t>的用户在遇到应用崩溃或性能问题时会选择卸载应用，质量问题已成为应用成功的关键制约因素。安全漏洞如数据泄露、权限滥用等问题更可能导致严重的用户信任危机和法律风险。</a:t>
            </a:r>
            <a:endParaRPr lang="en-US" altLang="zh-CN" sz="2000"/>
          </a:p>
          <a:p>
            <a:r>
              <a:t>• 自动化测试成为关键</a:t>
            </a:r>
          </a:p>
          <a:p>
            <a:pPr marL="457200" lvl="1" indent="457200">
              <a:buNone/>
            </a:pPr>
            <a:r>
              <a:rPr lang="zh-CN" altLang="en-US" sz="1995"/>
              <a:t>面对快速迭代和高质量交付的双重压力，传统的人工测试已无法满足现代移动应用的开发需求，自动化测试成为保障软件质量的必要手段。自动化测试能够显著提高测试效率、降低回归成本、实现持续集成与持续交付（</a:t>
            </a:r>
            <a:r>
              <a:rPr lang="en-US" altLang="zh-CN" sz="1995"/>
              <a:t>CI/CD</a:t>
            </a:r>
            <a:r>
              <a:rPr lang="zh-CN" altLang="en-US" sz="1995"/>
              <a:t>），是现代软件工程实践的核心组成部分。</a:t>
            </a:r>
            <a:endParaRPr lang="zh-CN" altLang="en-US" sz="199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问题分析</a:t>
            </a:r>
          </a:p>
        </p:txBody>
      </p:sp>
      <p:sp>
        <p:nvSpPr>
          <p:cNvPr id="3" name="Content Placeholder 2"/>
          <p:cNvSpPr>
            <a:spLocks noGrp="1"/>
          </p:cNvSpPr>
          <p:nvPr>
            <p:ph idx="1"/>
          </p:nvPr>
        </p:nvSpPr>
        <p:spPr>
          <a:xfrm>
            <a:off x="457200" y="1600200"/>
            <a:ext cx="8229600" cy="4932045"/>
          </a:xfrm>
        </p:spPr>
        <p:txBody>
          <a:bodyPr>
            <a:normAutofit fontScale="90000"/>
          </a:bodyPr>
          <a:lstStyle/>
          <a:p>
            <a:r>
              <a:t>• Android已有成熟测试工具</a:t>
            </a:r>
          </a:p>
          <a:p>
            <a:pPr marL="0" indent="457200">
              <a:buNone/>
            </a:pPr>
            <a:r>
              <a:rPr lang="en-US" altLang="zh-CN" sz="1600"/>
              <a:t>Android</a:t>
            </a:r>
            <a:r>
              <a:rPr lang="zh-CN" altLang="en-US" sz="1600"/>
              <a:t>平台经过十余年的发展，已形成完善的测试工具生态，包括</a:t>
            </a:r>
            <a:r>
              <a:rPr lang="en-US" altLang="zh-CN" sz="1600"/>
              <a:t>Espresso</a:t>
            </a:r>
            <a:r>
              <a:rPr lang="zh-CN" altLang="en-US" sz="1600"/>
              <a:t>、</a:t>
            </a:r>
            <a:r>
              <a:rPr lang="en-US" altLang="zh-CN" sz="1600"/>
              <a:t>UI Automator</a:t>
            </a:r>
            <a:r>
              <a:rPr lang="zh-CN" altLang="en-US" sz="1600"/>
              <a:t>、</a:t>
            </a:r>
            <a:r>
              <a:rPr lang="en-US" altLang="zh-CN" sz="1600"/>
              <a:t>Robolectric</a:t>
            </a:r>
            <a:r>
              <a:rPr lang="zh-CN" altLang="en-US" sz="1600"/>
              <a:t>等</a:t>
            </a:r>
            <a:r>
              <a:rPr lang="en-US" altLang="zh-CN" sz="1600"/>
              <a:t>UI</a:t>
            </a:r>
            <a:r>
              <a:rPr lang="zh-CN" altLang="en-US" sz="1600"/>
              <a:t>测试框架，以及</a:t>
            </a:r>
            <a:r>
              <a:rPr lang="en-US" altLang="zh-CN" sz="1600"/>
              <a:t>LeakCanary</a:t>
            </a:r>
            <a:r>
              <a:rPr lang="zh-CN" altLang="en-US" sz="1600"/>
              <a:t>、</a:t>
            </a:r>
            <a:r>
              <a:rPr lang="en-US" altLang="zh-CN" sz="1600"/>
              <a:t>Systrace</a:t>
            </a:r>
            <a:r>
              <a:rPr lang="zh-CN" altLang="en-US" sz="1600"/>
              <a:t>等性能分析工具。这些工具覆盖了单元测试、集成测试、</a:t>
            </a:r>
            <a:r>
              <a:rPr lang="en-US" altLang="zh-CN" sz="1600"/>
              <a:t>UI</a:t>
            </a:r>
            <a:r>
              <a:rPr lang="zh-CN" altLang="en-US" sz="1600"/>
              <a:t>测试、性能测试等多个层面，为开发者提供了全方位的质量保障支持。</a:t>
            </a:r>
            <a:endParaRPr lang="zh-CN" altLang="en-US" sz="1600"/>
          </a:p>
          <a:p>
            <a:r>
              <a:t>• OpenHarmony生态尚不完善</a:t>
            </a:r>
          </a:p>
          <a:p>
            <a:pPr marL="0" indent="457200">
              <a:buNone/>
            </a:pPr>
            <a:r>
              <a:rPr lang="en-US" altLang="zh-CN" sz="1780"/>
              <a:t>OpenHarmony</a:t>
            </a:r>
            <a:r>
              <a:rPr lang="zh-CN" altLang="en-US" sz="1780"/>
              <a:t>作为华为推出的开源操作系统，虽然发展迅速，但其测试工具生态仍处于起步阶段，与</a:t>
            </a:r>
            <a:r>
              <a:rPr lang="en-US" altLang="zh-CN" sz="1780"/>
              <a:t>Android</a:t>
            </a:r>
            <a:r>
              <a:rPr lang="zh-CN" altLang="en-US" sz="1780"/>
              <a:t>相比存在明显差距。现有的测试工具数量有限，功能覆盖不全，文档和社区支持也相对薄弱，难以满足开发者对全面质量保障的需求。</a:t>
            </a:r>
            <a:endParaRPr lang="zh-CN" altLang="en-US" sz="1780"/>
          </a:p>
          <a:p>
            <a:r>
              <a:t>• 缺乏动态分析框架</a:t>
            </a:r>
          </a:p>
          <a:p>
            <a:pPr marL="0" indent="457200">
              <a:buNone/>
            </a:pPr>
            <a:r>
              <a:rPr lang="zh-CN" altLang="en-US" sz="1750"/>
              <a:t>动态分析是检测运行时错误、性能瓶颈和安全漏洞的重要手段，但</a:t>
            </a:r>
            <a:r>
              <a:rPr lang="en-US" altLang="zh-CN" sz="1750"/>
              <a:t>OpenHarmony</a:t>
            </a:r>
            <a:r>
              <a:rPr lang="zh-CN" altLang="en-US" sz="1750"/>
              <a:t>平台目前缺乏成熟的动态分析框架。现有工具多集中于静态代码分析和基础功能测试，无法有效捕获运行时行为、追踪函数调用链、监控资源使用情况，这严重制约了深度质量保障能力的建设。</a:t>
            </a:r>
            <a:endParaRPr lang="zh-CN" altLang="en-US" sz="17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相关研究方向</a:t>
            </a:r>
          </a:p>
        </p:txBody>
      </p:sp>
      <p:sp>
        <p:nvSpPr>
          <p:cNvPr id="3" name="Content Placeholder 2"/>
          <p:cNvSpPr>
            <a:spLocks noGrp="1"/>
          </p:cNvSpPr>
          <p:nvPr>
            <p:ph idx="1"/>
          </p:nvPr>
        </p:nvSpPr>
        <p:spPr>
          <a:xfrm>
            <a:off x="457200" y="1396365"/>
            <a:ext cx="8229600" cy="4940300"/>
          </a:xfrm>
        </p:spPr>
        <p:txBody>
          <a:bodyPr>
            <a:normAutofit fontScale="60000"/>
          </a:bodyPr>
          <a:lstStyle/>
          <a:p>
            <a:r>
              <a:t>• 搜索驱动测试（Monkey）</a:t>
            </a:r>
          </a:p>
          <a:p>
            <a:pPr marL="0" indent="457200">
              <a:buNone/>
            </a:pPr>
            <a:r>
              <a:rPr lang="zh-CN" altLang="en-US"/>
              <a:t>搜索驱动测试（如</a:t>
            </a:r>
            <a:r>
              <a:rPr lang="en-US" altLang="zh-CN"/>
              <a:t>Monkey</a:t>
            </a:r>
            <a:r>
              <a:rPr lang="zh-CN" altLang="en-US"/>
              <a:t>工具）通过随机生成用户交互事件（点击、滑动、按键等）来探索应用界面，以发现潜在的崩溃和异常行为。这种方法实现简单、执行效率高，能够在短时间内覆盖大量测试路径，但由于缺乏系统性指导，测试覆盖率和缺陷发现效率有限。</a:t>
            </a:r>
          </a:p>
          <a:p>
            <a:r>
              <a:t>• 模型驱动测试（GUI建模）</a:t>
            </a:r>
          </a:p>
          <a:p>
            <a:pPr marL="0" indent="457200">
              <a:buNone/>
            </a:pPr>
            <a:r>
              <a:rPr lang="zh-CN" altLang="en-US"/>
              <a:t>模型驱动测试通过构建应用的</a:t>
            </a:r>
            <a:r>
              <a:rPr lang="en-US" altLang="zh-CN"/>
              <a:t>GUI</a:t>
            </a:r>
            <a:r>
              <a:rPr lang="zh-CN" altLang="en-US"/>
              <a:t>结构模型（如状态机、事件流图等），系统性地生成测试用例，实现更有针对性的测试覆盖。该方法能够根据模型推导出最优测试路径，提高测试效率和缺陷发现率，但模型构建和维护成本较高，对复杂应用的建模难度较大。</a:t>
            </a:r>
            <a:endParaRPr lang="zh-CN" altLang="en-US"/>
          </a:p>
          <a:p>
            <a:r>
              <a:t>• AI测试（LLM驱动）</a:t>
            </a:r>
          </a:p>
          <a:p>
            <a:pPr marL="0" indent="457200">
              <a:buNone/>
            </a:pPr>
            <a:r>
              <a:rPr lang="en-US" altLang="zh-CN"/>
              <a:t>AI</a:t>
            </a:r>
            <a:r>
              <a:rPr lang="zh-CN" altLang="en-US"/>
              <a:t>测试利用大语言模型（</a:t>
            </a:r>
            <a:r>
              <a:rPr lang="en-US" altLang="zh-CN"/>
              <a:t>LLM</a:t>
            </a:r>
            <a:r>
              <a:rPr lang="zh-CN" altLang="en-US"/>
              <a:t>）理解应用语义和用户意图，智能生成测试用例和测试脚本，实现更接近人类测试思维的自动化测试。</a:t>
            </a:r>
            <a:r>
              <a:rPr lang="en-US" altLang="zh-CN"/>
              <a:t>LLM</a:t>
            </a:r>
            <a:r>
              <a:rPr lang="zh-CN" altLang="en-US"/>
              <a:t>能够根据应用描述、界面文本和上下文信息生成合理的测试场景，显著提升测试的智能性和适应性，是测试领域的前沿研究方向。</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论文介绍：HapTest</a:t>
            </a:r>
          </a:p>
        </p:txBody>
      </p:sp>
      <p:sp>
        <p:nvSpPr>
          <p:cNvPr id="3" name="Content Placeholder 2"/>
          <p:cNvSpPr>
            <a:spLocks noGrp="1"/>
          </p:cNvSpPr>
          <p:nvPr>
            <p:ph idx="1"/>
          </p:nvPr>
        </p:nvSpPr>
        <p:spPr/>
        <p:txBody>
          <a:bodyPr>
            <a:normAutofit fontScale="60000"/>
          </a:bodyPr>
          <a:lstStyle/>
          <a:p>
            <a:r>
              <a:t>• 首个鸿蒙动态分析框架</a:t>
            </a:r>
          </a:p>
          <a:p>
            <a:pPr marL="0" indent="457200">
              <a:buNone/>
            </a:pPr>
            <a:r>
              <a:rPr lang="en-US" altLang="zh-CN"/>
              <a:t>HapTest</a:t>
            </a:r>
            <a:r>
              <a:rPr lang="zh-CN" altLang="en-US"/>
              <a:t>是首个专门针对</a:t>
            </a:r>
            <a:r>
              <a:rPr lang="en-US" altLang="zh-CN"/>
              <a:t>OpenHarmony</a:t>
            </a:r>
            <a:r>
              <a:rPr lang="zh-CN" altLang="en-US"/>
              <a:t>应用设计的动态分析框架，填补了鸿蒙生态在动态测试领域的空白。该框架将自动化测试与动态分析能力深度融合，为开发者提供了一站式的应用质量保障解决方案。</a:t>
            </a:r>
            <a:endParaRPr lang="zh-CN" altLang="en-US"/>
          </a:p>
          <a:p>
            <a:r>
              <a:t>• 支持自动测试与分析</a:t>
            </a:r>
          </a:p>
          <a:p>
            <a:pPr marL="0" indent="457200">
              <a:buNone/>
            </a:pPr>
            <a:r>
              <a:rPr lang="en-US" altLang="zh-CN"/>
              <a:t>HapTest</a:t>
            </a:r>
            <a:r>
              <a:rPr lang="zh-CN" altLang="en-US"/>
              <a:t>实现了测试执行与动态分析的自动化集成，无需人工干预即可完成从测试用例生成到结果分析的全流程。框架支持多种测试模式和数据分析能力，能够自动识别和报告应用中的潜在问题。</a:t>
            </a:r>
            <a:endParaRPr lang="zh-CN" altLang="en-US"/>
          </a:p>
          <a:p>
            <a:r>
              <a:t>• 已开源</a:t>
            </a:r>
          </a:p>
          <a:p>
            <a:pPr marL="0" indent="457200">
              <a:buNone/>
            </a:pPr>
            <a:r>
              <a:rPr lang="en-US" altLang="zh-CN"/>
              <a:t>HapTest</a:t>
            </a:r>
            <a:r>
              <a:rPr lang="zh-CN" altLang="en-US"/>
              <a:t>框架已在开源社区公开发布，开发者可以免费获取、使用和贡献代码，推动</a:t>
            </a:r>
            <a:r>
              <a:rPr lang="en-US" altLang="zh-CN"/>
              <a:t>OpenHarmony</a:t>
            </a:r>
            <a:r>
              <a:rPr lang="zh-CN" altLang="en-US"/>
              <a:t>测试生态的共建共享。开源策略有助于吸引更多开发者参与完善框架功能，加速鸿蒙测试工具生态的成熟。</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框架结构</a:t>
            </a:r>
          </a:p>
        </p:txBody>
      </p:sp>
      <p:sp>
        <p:nvSpPr>
          <p:cNvPr id="3" name="Content Placeholder 2"/>
          <p:cNvSpPr>
            <a:spLocks noGrp="1"/>
          </p:cNvSpPr>
          <p:nvPr>
            <p:ph idx="1"/>
          </p:nvPr>
        </p:nvSpPr>
        <p:spPr/>
        <p:txBody>
          <a:bodyPr>
            <a:normAutofit fontScale="50000"/>
          </a:bodyPr>
          <a:lstStyle/>
          <a:p>
            <a:r>
              <a:t>• CIM：代码插桩</a:t>
            </a:r>
          </a:p>
          <a:p>
            <a:pPr marL="0" indent="457200">
              <a:buNone/>
            </a:pPr>
            <a:r>
              <a:rPr lang="zh-CN" altLang="en-US"/>
              <a:t>代码插桩模块负责在应用编译阶段或运行时注入监控代码，实现对应用执行行为的透明追踪。通过插桩技术，框架能够捕获函数调用、变量状态、资源访问等关键运行时信息，为后续分析提供数据基础。</a:t>
            </a:r>
            <a:endParaRPr lang="zh-CN" altLang="en-US"/>
          </a:p>
          <a:p>
            <a:r>
              <a:t>• EGM：事件生成</a:t>
            </a:r>
          </a:p>
          <a:p>
            <a:pPr marL="0" indent="457200">
              <a:buNone/>
            </a:pPr>
            <a:r>
              <a:rPr lang="zh-CN" altLang="en-US"/>
              <a:t>事件生成模块负责自动生成测试事件序列，支持随机探索、模型驱动和策略导向等多种事件生成策略。该模块能够根据应用特点和测试目标智能调整事件生成策略，提高测试效率和覆盖率。</a:t>
            </a:r>
            <a:endParaRPr lang="zh-CN" altLang="en-US"/>
          </a:p>
          <a:p>
            <a:r>
              <a:t>• EM：执行模块</a:t>
            </a:r>
          </a:p>
          <a:p>
            <a:pPr marL="0" indent="457200">
              <a:buNone/>
            </a:pPr>
            <a:r>
              <a:rPr lang="zh-CN" altLang="en-US"/>
              <a:t>执行模块负责在</a:t>
            </a:r>
            <a:r>
              <a:rPr lang="en-US" altLang="zh-CN"/>
              <a:t>OpenHarmony</a:t>
            </a:r>
            <a:r>
              <a:rPr lang="zh-CN" altLang="en-US"/>
              <a:t>设备或模拟器上执行测试事件，并实时监控应用运行状态。该模块与</a:t>
            </a:r>
            <a:r>
              <a:rPr lang="en-US" altLang="zh-CN"/>
              <a:t>OpenHarmony</a:t>
            </a:r>
            <a:r>
              <a:rPr lang="zh-CN" altLang="en-US"/>
              <a:t>系统深度集成，能够准确模拟用户操作并捕获执行过程中的各类异常。</a:t>
            </a:r>
            <a:endParaRPr lang="zh-CN" altLang="en-US"/>
          </a:p>
          <a:p>
            <a:r>
              <a:t>• DPM：数据处理</a:t>
            </a:r>
          </a:p>
          <a:p>
            <a:pPr marL="0" indent="457200">
              <a:buNone/>
            </a:pPr>
            <a:r>
              <a:rPr lang="zh-CN" altLang="en-US"/>
              <a:t>数据处理模块负责收集、存储和分析测试执行过程中产生的海量数据，包括覆盖率信息、性能指标、崩溃日志等。该模块提供数据可视化能力，帮助开发者快速定位和理解应用问题。</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核心功能</a:t>
            </a:r>
          </a:p>
        </p:txBody>
      </p:sp>
      <p:sp>
        <p:nvSpPr>
          <p:cNvPr id="3" name="Content Placeholder 2"/>
          <p:cNvSpPr>
            <a:spLocks noGrp="1"/>
          </p:cNvSpPr>
          <p:nvPr>
            <p:ph idx="1"/>
          </p:nvPr>
        </p:nvSpPr>
        <p:spPr>
          <a:xfrm>
            <a:off x="457200" y="1600200"/>
            <a:ext cx="8229600" cy="5589270"/>
          </a:xfrm>
        </p:spPr>
        <p:txBody>
          <a:bodyPr>
            <a:normAutofit fontScale="60000"/>
          </a:bodyPr>
          <a:lstStyle/>
          <a:p>
            <a:r>
              <a:t>• 自动生成测试事件</a:t>
            </a:r>
          </a:p>
          <a:p>
            <a:pPr marL="0" indent="457200">
              <a:buNone/>
            </a:pPr>
            <a:r>
              <a:rPr lang="zh-CN" altLang="en-US"/>
              <a:t>框架能够根据应用界面结构自动生成测试事件序列，无需人工编写测试脚本，大幅降低测试成本。事件生成算法结合随机探索和启发式策略，有效平衡测试广度和深度。</a:t>
            </a:r>
            <a:endParaRPr lang="zh-CN" altLang="en-US"/>
          </a:p>
          <a:p>
            <a:r>
              <a:t>• GUI建模（PTG）</a:t>
            </a:r>
          </a:p>
          <a:p>
            <a:pPr marL="0" indent="457200">
              <a:buNone/>
            </a:pPr>
            <a:r>
              <a:rPr lang="zh-CN" altLang="en-US"/>
              <a:t>框架采用页面转换图构建应用的</a:t>
            </a:r>
            <a:r>
              <a:rPr lang="en-US" altLang="zh-CN"/>
              <a:t>GUI</a:t>
            </a:r>
            <a:r>
              <a:rPr lang="zh-CN" altLang="en-US"/>
              <a:t>结构模型，准确描述页面间的导航关系和事件触发的状态转换。</a:t>
            </a:r>
            <a:r>
              <a:rPr lang="en-US" altLang="zh-CN"/>
              <a:t>PTG</a:t>
            </a:r>
            <a:r>
              <a:rPr lang="zh-CN" altLang="en-US"/>
              <a:t>模型为测试用例生成提供指导，确保测试覆盖所有关键页面和功能路径。</a:t>
            </a:r>
            <a:endParaRPr lang="zh-CN" altLang="en-US"/>
          </a:p>
          <a:p>
            <a:r>
              <a:t>• 覆盖率分析</a:t>
            </a:r>
          </a:p>
          <a:p>
            <a:pPr marL="0" indent="457200">
              <a:buNone/>
            </a:pPr>
            <a:r>
              <a:rPr lang="zh-CN" altLang="en-US"/>
              <a:t>框架提供代码覆盖率、函数覆盖率和页面覆盖率等多维度覆盖率分析能力，量化评估测试充分性。覆盖率数据帮助开发者识别测试盲区，指导后续测试策略的优化调整。</a:t>
            </a:r>
            <a:endParaRPr lang="zh-CN" altLang="en-US"/>
          </a:p>
          <a:p>
            <a:r>
              <a:t>• 崩溃检测</a:t>
            </a:r>
          </a:p>
          <a:p>
            <a:pPr marL="0" indent="457200">
              <a:buNone/>
            </a:pPr>
            <a:r>
              <a:rPr lang="zh-CN" altLang="en-US"/>
              <a:t>框架内置崩溃检测机制，能够实时捕获应用运行时的崩溃、异常和错误，并生成详细的崩溃报告。报告包含崩溃堆栈、触发路径和复现步骤，帮助开发者快速定位和修复问题。</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实验结果</a:t>
            </a:r>
          </a:p>
        </p:txBody>
      </p:sp>
      <p:sp>
        <p:nvSpPr>
          <p:cNvPr id="3" name="Content Placeholder 2"/>
          <p:cNvSpPr>
            <a:spLocks noGrp="1"/>
          </p:cNvSpPr>
          <p:nvPr>
            <p:ph idx="1"/>
          </p:nvPr>
        </p:nvSpPr>
        <p:spPr>
          <a:xfrm>
            <a:off x="457200" y="1600200"/>
            <a:ext cx="8229600" cy="4876800"/>
          </a:xfrm>
        </p:spPr>
        <p:txBody>
          <a:bodyPr>
            <a:normAutofit fontScale="70000"/>
          </a:bodyPr>
          <a:lstStyle/>
          <a:p>
            <a:r>
              <a:t>• 测试20个商业应用</a:t>
            </a:r>
          </a:p>
          <a:p>
            <a:pPr marL="457200" lvl="1" indent="457200">
              <a:buNone/>
            </a:pPr>
            <a:r>
              <a:rPr lang="zh-CN" altLang="en-US"/>
              <a:t>研究团队选取</a:t>
            </a:r>
            <a:r>
              <a:rPr lang="en-US" altLang="zh-CN"/>
              <a:t>20</a:t>
            </a:r>
            <a:r>
              <a:rPr lang="zh-CN" altLang="en-US"/>
              <a:t>个真实的</a:t>
            </a:r>
            <a:r>
              <a:rPr lang="en-US" altLang="zh-CN"/>
              <a:t>OpenHarmony</a:t>
            </a:r>
            <a:r>
              <a:rPr lang="zh-CN" altLang="en-US"/>
              <a:t>商业应用进行测试验证，涵盖社交、工具、娱乐等多个类别。这些应用具有真实的业务逻辑和用户场景，能够有效评估框架的实用性和适用范围。</a:t>
            </a:r>
            <a:endParaRPr lang="zh-CN" altLang="en-US"/>
          </a:p>
          <a:p>
            <a:r>
              <a:t>• 发现26个崩溃</a:t>
            </a:r>
          </a:p>
          <a:p>
            <a:pPr marL="0" indent="457200">
              <a:buNone/>
            </a:pPr>
            <a:r>
              <a:rPr lang="zh-CN" altLang="en-US"/>
              <a:t>在测试过程中，</a:t>
            </a:r>
            <a:r>
              <a:rPr lang="en-US" altLang="zh-CN"/>
              <a:t>HapTest</a:t>
            </a:r>
            <a:r>
              <a:rPr lang="zh-CN" altLang="en-US"/>
              <a:t>成功发现</a:t>
            </a:r>
            <a:r>
              <a:rPr lang="en-US" altLang="zh-CN"/>
              <a:t>26</a:t>
            </a:r>
            <a:r>
              <a:rPr lang="zh-CN" altLang="en-US"/>
              <a:t>个真实崩溃问题，验证了框架在缺陷检测方面的有效性。这些崩溃涉及空指针异常、资源泄露、逻辑错误等多种类型，体现了框架的全面检测能力。</a:t>
            </a:r>
            <a:endParaRPr lang="zh-CN" altLang="en-US"/>
          </a:p>
          <a:p>
            <a:r>
              <a:t>• 覆盖率高</a:t>
            </a:r>
          </a:p>
          <a:p>
            <a:pPr marL="0" indent="457200">
              <a:buNone/>
            </a:pPr>
            <a:r>
              <a:rPr lang="zh-CN" altLang="en-US"/>
              <a:t>实验结果显示，</a:t>
            </a:r>
            <a:r>
              <a:rPr lang="en-US" altLang="zh-CN"/>
              <a:t>HapTest</a:t>
            </a:r>
            <a:r>
              <a:rPr lang="zh-CN" altLang="en-US"/>
              <a:t>在测试覆盖率和缺陷发现率方面均表现优异，显著优于传统的随机测试方法。高覆盖率证明了框架在测试路径规划和事件生成方面的有效性，为质量保障提供了坚实基础。</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选题理由</a:t>
            </a:r>
          </a:p>
        </p:txBody>
      </p:sp>
      <p:sp>
        <p:nvSpPr>
          <p:cNvPr id="3" name="Content Placeholder 2"/>
          <p:cNvSpPr>
            <a:spLocks noGrp="1"/>
          </p:cNvSpPr>
          <p:nvPr>
            <p:ph idx="1"/>
          </p:nvPr>
        </p:nvSpPr>
        <p:spPr>
          <a:xfrm>
            <a:off x="457200" y="1600200"/>
            <a:ext cx="8229600" cy="5185410"/>
          </a:xfrm>
        </p:spPr>
        <p:txBody>
          <a:bodyPr>
            <a:normAutofit fontScale="60000"/>
          </a:bodyPr>
          <a:lstStyle/>
          <a:p>
            <a:r>
              <a:t>• 填补鸿蒙测试空白</a:t>
            </a:r>
          </a:p>
          <a:p>
            <a:pPr marL="0" indent="457200">
              <a:buNone/>
            </a:pPr>
            <a:r>
              <a:rPr lang="en-US" altLang="zh-CN"/>
              <a:t>OpenHarmony</a:t>
            </a:r>
            <a:r>
              <a:rPr lang="zh-CN" altLang="en-US"/>
              <a:t>作为新兴操作系统，其测试工具生态尚不完善，</a:t>
            </a:r>
            <a:r>
              <a:rPr lang="en-US" altLang="zh-CN"/>
              <a:t>HapTest</a:t>
            </a:r>
            <a:r>
              <a:rPr lang="zh-CN" altLang="en-US"/>
              <a:t>框架的研究填补了鸿蒙平台动态分析领域的空白。该实验为</a:t>
            </a:r>
            <a:r>
              <a:rPr lang="en-US" altLang="zh-CN"/>
              <a:t>OpenHarmony</a:t>
            </a:r>
            <a:r>
              <a:rPr lang="zh-CN" altLang="en-US"/>
              <a:t>应用质量保障提供了首个系统性的动态测试解决方案，具有重要的开创性意义。</a:t>
            </a:r>
            <a:endParaRPr lang="zh-CN" altLang="en-US"/>
          </a:p>
          <a:p>
            <a:r>
              <a:t>• 符合课程目标</a:t>
            </a:r>
          </a:p>
          <a:p>
            <a:pPr marL="0" indent="457200">
              <a:buNone/>
            </a:pPr>
            <a:r>
              <a:rPr lang="zh-CN" altLang="en-US"/>
              <a:t>本实验紧密围绕软件质量保障课程的核心目标，将理论知识与实践应用相结合，涵盖测试方法、自动化工具、质量分析等关键知识点。通过实际动手操作和实验验证，能够深入理解软件测试的基本原理和工程实践。</a:t>
            </a:r>
            <a:endParaRPr lang="zh-CN" altLang="en-US"/>
          </a:p>
          <a:p>
            <a:r>
              <a:t>• 有实际工程价值</a:t>
            </a:r>
          </a:p>
          <a:p>
            <a:pPr marL="0" indent="457200">
              <a:buNone/>
            </a:pPr>
            <a:r>
              <a:rPr lang="en-US" altLang="zh-CN"/>
              <a:t>HapTest</a:t>
            </a:r>
            <a:r>
              <a:rPr lang="zh-CN" altLang="en-US"/>
              <a:t>框架已在真实商业应用中验证其有效性，发现多个实际崩溃问题，证明了其工程实用价值。该框架可直接应用于</a:t>
            </a:r>
            <a:r>
              <a:rPr lang="en-US" altLang="zh-CN"/>
              <a:t>OpenHarmony</a:t>
            </a:r>
            <a:r>
              <a:rPr lang="zh-CN" altLang="en-US"/>
              <a:t>应用的开发测试流程，帮助开发团队提升产品质量和开发效率。</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改进思路</a:t>
            </a:r>
          </a:p>
        </p:txBody>
      </p:sp>
      <p:sp>
        <p:nvSpPr>
          <p:cNvPr id="3" name="Content Placeholder 2"/>
          <p:cNvSpPr>
            <a:spLocks noGrp="1"/>
          </p:cNvSpPr>
          <p:nvPr>
            <p:ph idx="1"/>
          </p:nvPr>
        </p:nvSpPr>
        <p:spPr>
          <a:xfrm>
            <a:off x="457200" y="1600200"/>
            <a:ext cx="8229600" cy="5257800"/>
          </a:xfrm>
        </p:spPr>
        <p:txBody>
          <a:bodyPr>
            <a:normAutofit fontScale="70000"/>
          </a:bodyPr>
          <a:lstStyle/>
          <a:p>
            <a:r>
              <a:t>• 优化测试策略（覆盖率驱动）</a:t>
            </a:r>
          </a:p>
          <a:p>
            <a:pPr marL="0" indent="457200">
              <a:buNone/>
            </a:pPr>
            <a:r>
              <a:rPr lang="zh-CN" altLang="en-US"/>
              <a:t>未来可引入覆盖率驱动的测试策略优化机制，根据实时覆盖率数据动态调整事件生成策略，优先探索未覆盖的代码区域。这种自适应策略能够显著提高测试效率，在有限时间内实现更高的测试覆盖率。</a:t>
            </a:r>
            <a:endParaRPr lang="zh-CN" altLang="en-US"/>
          </a:p>
          <a:p>
            <a:r>
              <a:t>• 引入AI测试</a:t>
            </a:r>
          </a:p>
          <a:p>
            <a:pPr marL="0" indent="457200">
              <a:buNone/>
            </a:pPr>
            <a:r>
              <a:rPr lang="zh-CN" altLang="en-US"/>
              <a:t>结合大语言模型（</a:t>
            </a:r>
            <a:r>
              <a:rPr lang="en-US" altLang="zh-CN"/>
              <a:t>LLM</a:t>
            </a:r>
            <a:r>
              <a:rPr lang="zh-CN" altLang="en-US"/>
              <a:t>）和机器学习技术，可以实现更智能的测试用例生成和缺陷预测能力。</a:t>
            </a:r>
            <a:r>
              <a:rPr lang="en-US" altLang="zh-CN"/>
              <a:t>AI</a:t>
            </a:r>
            <a:r>
              <a:rPr lang="zh-CN" altLang="en-US"/>
              <a:t>技术能够理解应用语义、预测高风险区域、自动生成针对性测试场景，推动测试自动化向智能化方向发展。</a:t>
            </a:r>
            <a:endParaRPr lang="zh-CN" altLang="en-US"/>
          </a:p>
          <a:p>
            <a:r>
              <a:t>• 性能分析扩展</a:t>
            </a:r>
          </a:p>
          <a:p>
            <a:pPr marL="0" indent="457200">
              <a:buNone/>
            </a:pPr>
            <a:r>
              <a:rPr lang="zh-CN" altLang="en-US"/>
              <a:t>在现有崩溃检测基础上，可扩展性能分析功能，包括内存泄漏检测、</a:t>
            </a:r>
            <a:r>
              <a:rPr lang="en-US" altLang="zh-CN"/>
              <a:t>CPU</a:t>
            </a:r>
            <a:r>
              <a:rPr lang="zh-CN" altLang="en-US"/>
              <a:t>使用监控、电池消耗分析、网络性能评估等。全面的性能分析能力将使</a:t>
            </a:r>
            <a:r>
              <a:rPr lang="en-US" altLang="zh-CN"/>
              <a:t>HapTest</a:t>
            </a:r>
            <a:r>
              <a:rPr lang="zh-CN" altLang="en-US"/>
              <a:t>成为更完整的应用质量保障平台。</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预期成果</a:t>
            </a:r>
          </a:p>
        </p:txBody>
      </p:sp>
      <p:sp>
        <p:nvSpPr>
          <p:cNvPr id="3" name="Content Placeholder 2"/>
          <p:cNvSpPr>
            <a:spLocks noGrp="1"/>
          </p:cNvSpPr>
          <p:nvPr>
            <p:ph idx="1"/>
          </p:nvPr>
        </p:nvSpPr>
        <p:spPr>
          <a:xfrm>
            <a:off x="457200" y="1600200"/>
            <a:ext cx="8229600" cy="5257165"/>
          </a:xfrm>
        </p:spPr>
        <p:txBody>
          <a:bodyPr>
            <a:normAutofit fontScale="70000"/>
          </a:bodyPr>
          <a:lstStyle/>
          <a:p>
            <a:r>
              <a:t>• 实现改进测试策略</a:t>
            </a:r>
          </a:p>
          <a:p>
            <a:pPr marL="0" indent="457200">
              <a:buNone/>
            </a:pPr>
            <a:r>
              <a:rPr lang="zh-CN" altLang="en-US"/>
              <a:t>本实验预期实现测试策略的改进优化，探索更高效的事件生成算法和路径规划方法。通过对比实验验证改进策略的有效性，为框架的持续优化提供理论依据和实践经验。</a:t>
            </a:r>
            <a:endParaRPr lang="zh-CN" altLang="en-US"/>
          </a:p>
          <a:p>
            <a:r>
              <a:t>• 提升覆盖率</a:t>
            </a:r>
          </a:p>
          <a:p>
            <a:pPr marL="0" indent="457200">
              <a:buNone/>
            </a:pPr>
            <a:r>
              <a:rPr lang="zh-CN" altLang="en-US"/>
              <a:t>实验预期提高测试覆盖率，包括代码覆盖率、功能覆盖率和场景覆盖率等多个维度。高覆盖率意味着更全面的测试，能够发现更多潜在缺陷，提升应用质量保障水平。</a:t>
            </a:r>
            <a:endParaRPr lang="zh-CN" altLang="en-US"/>
          </a:p>
          <a:p>
            <a:r>
              <a:t>• 输出分析报告</a:t>
            </a:r>
          </a:p>
          <a:p>
            <a:pPr marL="0" indent="457200">
              <a:buNone/>
            </a:pPr>
            <a:r>
              <a:rPr lang="zh-CN" altLang="en-US"/>
              <a:t>实验预期输出详细的测试分析报告，包括覆盖率统计、缺陷列表、性能指标、改进建议等内容。规范的报告格式和详实的数据分析能够为开发团队提供有价值的质量反馈，指导后续的优化改进工作。</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总结</a:t>
            </a:r>
          </a:p>
        </p:txBody>
      </p:sp>
      <p:sp>
        <p:nvSpPr>
          <p:cNvPr id="3" name="Content Placeholder 2"/>
          <p:cNvSpPr>
            <a:spLocks noGrp="1"/>
          </p:cNvSpPr>
          <p:nvPr>
            <p:ph idx="1"/>
          </p:nvPr>
        </p:nvSpPr>
        <p:spPr>
          <a:xfrm>
            <a:off x="457200" y="1600200"/>
            <a:ext cx="8229600" cy="5067300"/>
          </a:xfrm>
        </p:spPr>
        <p:txBody>
          <a:bodyPr>
            <a:normAutofit fontScale="60000"/>
          </a:bodyPr>
          <a:lstStyle/>
          <a:p>
            <a:r>
              <a:t>• HapTest具有研究价值</a:t>
            </a:r>
          </a:p>
          <a:p>
            <a:pPr marL="0" indent="457200">
              <a:buNone/>
            </a:pPr>
            <a:r>
              <a:rPr lang="en-US" altLang="zh-CN"/>
              <a:t>HapTest</a:t>
            </a:r>
            <a:r>
              <a:rPr lang="zh-CN" altLang="en-US"/>
              <a:t>作为首个</a:t>
            </a:r>
            <a:r>
              <a:rPr lang="en-US" altLang="zh-CN"/>
              <a:t>OpenHarmony</a:t>
            </a:r>
            <a:r>
              <a:rPr lang="zh-CN" altLang="en-US"/>
              <a:t>动态分析框架，在架构设计、算法实现、工程应用等方面都具有重要的研究价值。该框架为移动应用测试领域提供了新的研究视角和实践案例，值得深入探索和持续完善。</a:t>
            </a:r>
            <a:endParaRPr lang="zh-CN" altLang="en-US"/>
          </a:p>
          <a:p>
            <a:r>
              <a:t>• 本课题具备可实现性</a:t>
            </a:r>
          </a:p>
          <a:p>
            <a:pPr marL="0" indent="457200">
              <a:buNone/>
            </a:pPr>
            <a:r>
              <a:rPr lang="en-US" altLang="zh-CN"/>
              <a:t>HapTest</a:t>
            </a:r>
            <a:r>
              <a:rPr lang="zh-CN" altLang="en-US"/>
              <a:t>框架已开源可用，技术文档和实验环境完备，为本课题的研究提供了坚实的基础支撑。在现有框架基础上进行改进和扩展，技术路径清晰、资源条件充足，课题目标具有良好的可实现性。</a:t>
            </a:r>
            <a:endParaRPr lang="zh-CN" altLang="en-US"/>
          </a:p>
          <a:p>
            <a:r>
              <a:t>• 有改进空间</a:t>
            </a:r>
          </a:p>
          <a:p>
            <a:pPr marL="0" indent="457200">
              <a:buNone/>
            </a:pPr>
            <a:r>
              <a:rPr lang="en-US" altLang="zh-CN"/>
              <a:t>HapTest</a:t>
            </a:r>
            <a:r>
              <a:rPr lang="zh-CN" altLang="en-US"/>
              <a:t>框架虽然已取得初步成果，但在测试策略、智能分析、性能监控等方面仍有较大的改进空间。这些改进方向为后续研究提供了明确的目标，也为课题创新提供了广阔的发展空间。</a:t>
            </a:r>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3887</Words>
  <Application>WPS 演示</Application>
  <PresentationFormat>On-screen Show (4:3)</PresentationFormat>
  <Paragraphs>110</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SimSun</vt:lpstr>
      <vt:lpstr>Wingdings</vt:lpstr>
      <vt:lpstr>Arial</vt:lpstr>
      <vt:lpstr>Calibri</vt:lpstr>
      <vt:lpstr>Microsoft YaHei</vt:lpstr>
      <vt:lpstr>Arial Unicode MS</vt:lpstr>
      <vt:lpstr>Office Theme</vt:lpstr>
      <vt:lpstr>HapTest动态分析框架研究</vt:lpstr>
      <vt:lpstr>研究背景</vt:lpstr>
      <vt:lpstr>问题分析</vt:lpstr>
      <vt:lpstr>相关研究方向</vt:lpstr>
      <vt:lpstr>论文介绍：HapTest</vt:lpstr>
      <vt:lpstr>框架结构</vt:lpstr>
      <vt:lpstr>核心功能</vt:lpstr>
      <vt:lpstr>实验结果</vt:lpstr>
      <vt:lpstr>选题理由</vt:lpstr>
      <vt:lpstr>改进思路</vt:lpstr>
      <vt:lpstr>预期成果</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孜然</cp:lastModifiedBy>
  <cp:revision>47</cp:revision>
  <dcterms:created xsi:type="dcterms:W3CDTF">2013-01-27T09:14:00Z</dcterms:created>
  <dcterms:modified xsi:type="dcterms:W3CDTF">2026-03-21T14:37:38Z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D6D6E672C6B1437AAC8854BDCF38C3D3_13</vt:lpwstr>
  </property>
  <property fmtid="{D5CDD505-2E9C-101B-9397-08002B2CF9AE}" pid="3" name="KSOProductBuildVer">
    <vt:lpwstr>2052-12.1.0.25225</vt:lpwstr>
  </property>
</Properties>
</file>